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8aa13eed23478c" /><Relationship Type="http://schemas.openxmlformats.org/officeDocument/2006/relationships/extended-properties" Target="/docProps/app.xml" Id="R98bafb89cc7148ba" /><Relationship Type="http://schemas.openxmlformats.org/officeDocument/2006/relationships/officeDocument" Target="/ppt/presentation.xml" Id="R8ff4477b72ba48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a43aaf491646e6"/>
  </p:sldMasterIdLst>
  <p:notesMasterIdLst>
    <p:notesMasterId xmlns:r="http://schemas.openxmlformats.org/officeDocument/2006/relationships" r:id="Rc6a5def517ad4e49"/>
  </p:notesMasterIdLst>
  <p:sldIdLst>
    <p:sldId xmlns:r="http://schemas.openxmlformats.org/officeDocument/2006/relationships" id="256" r:id="Rcf83e3df4a4a4104"/>
    <p:sldId xmlns:r="http://schemas.openxmlformats.org/officeDocument/2006/relationships" id="257" r:id="R5be9069c9a914720"/>
    <p:sldId xmlns:r="http://schemas.openxmlformats.org/officeDocument/2006/relationships" id="258" r:id="R4f46f07994694011"/>
    <p:sldId xmlns:r="http://schemas.openxmlformats.org/officeDocument/2006/relationships" id="259" r:id="Re8fc2c2502094e26"/>
    <p:sldId xmlns:r="http://schemas.openxmlformats.org/officeDocument/2006/relationships" id="260" r:id="Refb849d0e3d340e7"/>
    <p:sldId xmlns:r="http://schemas.openxmlformats.org/officeDocument/2006/relationships" id="261" r:id="R9a0015da08894cf8"/>
    <p:sldId xmlns:r="http://schemas.openxmlformats.org/officeDocument/2006/relationships" id="262" r:id="R6f4bc74e79c2469d"/>
    <p:sldId xmlns:r="http://schemas.openxmlformats.org/officeDocument/2006/relationships" id="263" r:id="Rad4af25cca5746ec"/>
    <p:sldId xmlns:r="http://schemas.openxmlformats.org/officeDocument/2006/relationships" id="264" r:id="R1fa6e0b82bf44894"/>
    <p:sldId xmlns:r="http://schemas.openxmlformats.org/officeDocument/2006/relationships" id="265" r:id="R0576edaa908749e7"/>
    <p:sldId xmlns:r="http://schemas.openxmlformats.org/officeDocument/2006/relationships" id="266" r:id="R870bfb3f12974a52"/>
    <p:sldId xmlns:r="http://schemas.openxmlformats.org/officeDocument/2006/relationships" id="267" r:id="Ra039f898865f4433"/>
    <p:sldId xmlns:r="http://schemas.openxmlformats.org/officeDocument/2006/relationships" id="268" r:id="R1fa98a70999d460a"/>
    <p:sldId xmlns:r="http://schemas.openxmlformats.org/officeDocument/2006/relationships" id="269" r:id="Rdb91732fb97a438f"/>
    <p:sldId xmlns:r="http://schemas.openxmlformats.org/officeDocument/2006/relationships" id="270" r:id="R40a62c2a28e64d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b843978f1346df" /><Relationship Type="http://schemas.openxmlformats.org/officeDocument/2006/relationships/slideMaster" Target="/ppt/slideMasters/slideMaster1.xml" Id="R9da43aaf491646e6" /><Relationship Type="http://schemas.openxmlformats.org/officeDocument/2006/relationships/notesMaster" Target="/ppt/notesMasters/notesMaster1.xml" Id="Rc6a5def517ad4e49" /><Relationship Type="http://schemas.openxmlformats.org/officeDocument/2006/relationships/presProps" Target="/ppt/presProps.xml" Id="R6dc061e22e5b42bd" /><Relationship Type="http://schemas.openxmlformats.org/officeDocument/2006/relationships/tableStyles" Target="/ppt/tableStyles.xml" Id="Rad93f8bf93ad4868" /><Relationship Type="http://schemas.openxmlformats.org/officeDocument/2006/relationships/slide" Target="/ppt/slides/slide1.xml" Id="Rcf83e3df4a4a4104" /><Relationship Type="http://schemas.openxmlformats.org/officeDocument/2006/relationships/slide" Target="/ppt/slides/slide2.xml" Id="R5be9069c9a914720" /><Relationship Type="http://schemas.openxmlformats.org/officeDocument/2006/relationships/slide" Target="/ppt/slides/slide3.xml" Id="R4f46f07994694011" /><Relationship Type="http://schemas.openxmlformats.org/officeDocument/2006/relationships/slide" Target="/ppt/slides/slide4.xml" Id="Re8fc2c2502094e26" /><Relationship Type="http://schemas.openxmlformats.org/officeDocument/2006/relationships/slide" Target="/ppt/slides/slide5.xml" Id="Refb849d0e3d340e7" /><Relationship Type="http://schemas.openxmlformats.org/officeDocument/2006/relationships/slide" Target="/ppt/slides/slide6.xml" Id="R9a0015da08894cf8" /><Relationship Type="http://schemas.openxmlformats.org/officeDocument/2006/relationships/slide" Target="/ppt/slides/slide7.xml" Id="R6f4bc74e79c2469d" /><Relationship Type="http://schemas.openxmlformats.org/officeDocument/2006/relationships/slide" Target="/ppt/slides/slide8.xml" Id="Rad4af25cca5746ec" /><Relationship Type="http://schemas.openxmlformats.org/officeDocument/2006/relationships/slide" Target="/ppt/slides/slide9.xml" Id="R1fa6e0b82bf44894" /><Relationship Type="http://schemas.openxmlformats.org/officeDocument/2006/relationships/slide" Target="/ppt/slides/slide10.xml" Id="R0576edaa908749e7" /><Relationship Type="http://schemas.openxmlformats.org/officeDocument/2006/relationships/slide" Target="/ppt/slides/slide11.xml" Id="R870bfb3f12974a52" /><Relationship Type="http://schemas.openxmlformats.org/officeDocument/2006/relationships/slide" Target="/ppt/slides/slide12.xml" Id="Ra039f898865f4433" /><Relationship Type="http://schemas.openxmlformats.org/officeDocument/2006/relationships/slide" Target="/ppt/slides/slide13.xml" Id="R1fa98a70999d460a" /><Relationship Type="http://schemas.openxmlformats.org/officeDocument/2006/relationships/slide" Target="/ppt/slides/slide14.xml" Id="Rdb91732fb97a438f" /><Relationship Type="http://schemas.openxmlformats.org/officeDocument/2006/relationships/slide" Target="/ppt/slides/slide15.xml" Id="R40a62c2a28e64d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b068ff45d04f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1c07e11304d55" /><Relationship Type="http://schemas.openxmlformats.org/officeDocument/2006/relationships/notesMaster" Target="/ppt/notesMasters/notesMaster1.xml" Id="Rdb9e04275c0a45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33bbfda1d64823" /><Relationship Type="http://schemas.openxmlformats.org/officeDocument/2006/relationships/notesMaster" Target="/ppt/notesMasters/notesMaster1.xml" Id="R3f96729538f245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e1af51d084c38" /><Relationship Type="http://schemas.openxmlformats.org/officeDocument/2006/relationships/notesMaster" Target="/ppt/notesMasters/notesMaster1.xml" Id="R3b5301cde0a94f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286f67bc5e4813" /><Relationship Type="http://schemas.openxmlformats.org/officeDocument/2006/relationships/notesMaster" Target="/ppt/notesMasters/notesMaster1.xml" Id="R3bb6c10669f140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1b917b6b6d4aa3" /><Relationship Type="http://schemas.openxmlformats.org/officeDocument/2006/relationships/notesMaster" Target="/ppt/notesMasters/notesMaster1.xml" Id="Rb18675080cf04e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013524b22b4a26" /><Relationship Type="http://schemas.openxmlformats.org/officeDocument/2006/relationships/notesMaster" Target="/ppt/notesMasters/notesMaster1.xml" Id="Re4632dde6b964f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1e09e9072f4b3e" /><Relationship Type="http://schemas.openxmlformats.org/officeDocument/2006/relationships/notesMaster" Target="/ppt/notesMasters/notesMaster1.xml" Id="Rcecfc2cf90bb43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5504a268ca4ff3" /><Relationship Type="http://schemas.openxmlformats.org/officeDocument/2006/relationships/notesMaster" Target="/ppt/notesMasters/notesMaster1.xml" Id="Rb3364f84cfea45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ee018cfacb450b" /><Relationship Type="http://schemas.openxmlformats.org/officeDocument/2006/relationships/notesMaster" Target="/ppt/notesMasters/notesMaster1.xml" Id="Rcb94d261f92947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4f0d75d9964a6c" /><Relationship Type="http://schemas.openxmlformats.org/officeDocument/2006/relationships/notesMaster" Target="/ppt/notesMasters/notesMaster1.xml" Id="R6c36ac5f509344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ed364101684f1c" /><Relationship Type="http://schemas.openxmlformats.org/officeDocument/2006/relationships/notesMaster" Target="/ppt/notesMasters/notesMaster1.xml" Id="R4d02cbcd74ed4c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c61c3dfc7e4deb" /><Relationship Type="http://schemas.openxmlformats.org/officeDocument/2006/relationships/notesMaster" Target="/ppt/notesMasters/notesMaster1.xml" Id="Raf35f6918c314e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ffb7f3786f4bf6" /><Relationship Type="http://schemas.openxmlformats.org/officeDocument/2006/relationships/notesMaster" Target="/ppt/notesMasters/notesMaster1.xml" Id="R2319fcd3a28e45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85c5fca1fd4a88" /><Relationship Type="http://schemas.openxmlformats.org/officeDocument/2006/relationships/notesMaster" Target="/ppt/notesMasters/notesMaster1.xml" Id="R522fede27f3d4e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a2e27a803141bd" /><Relationship Type="http://schemas.openxmlformats.org/officeDocument/2006/relationships/notesMaster" Target="/ppt/notesMasters/notesMaster1.xml" Id="Rf3335e19f5134c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0:15. Представить тему и автора. В работе рассматривается программная модель манипулятора для сортировки объектов по цвету.</a:t>
            </a:r>
          </a:p>
          <a:p xmlns:a="http://schemas.openxmlformats.org/drawingml/2006/main">
            <a:r>
              <a:t>Источник реквизитов: 01_Управление/реквизиты.yaml. Год оформления записки — 2026; дата защиты отдельно не подтверждена.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0:35. Сформулировать цель как работу программной ячейки, а не как проектирование уже изготовленного устройства. Перечислить четыре задачи: геометрическая модель, кинематика и траектории, распознавание по изображению, выполнение и проверка цикла. Отдельно обозначить границу: физическая сборка и натурные испытания не выполнялись.</a:t>
            </a:r>
          </a:p>
          <a:p xmlns:a="http://schemas.openxmlformats.org/drawingml/2006/main">
            <a:r>
              <a:t>Источник: 01_Управление/Границы_проекта.md; 08_Записка/source/Пояснительная_записка.md, введение и разделы 1–2.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0:40. Проследить поток слева направо: камеры отдают изображение, perception оценивает объект, IK и планировщик проверяют движение, FSM выдает команды MuJoCo. Нижняя пунктирная область изолирована: истинные значения используются только после действий независимым evaluator, поэтому контроллер не получает правильный ответ из движка.</a:t>
            </a:r>
          </a:p>
          <a:p xmlns:a="http://schemas.openxmlformats.org/drawingml/2006/main">
            <a:r>
              <a:t>Источник: 02_Спецификация/Архитектура.md, раздел 5 и 7; 08_Записка/figures/01_Архитектура_M1.png.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0:40. Показать расположение подачи и лотков относительно основания манипулятора. Это фиксированная рабочая ячейка: объекты лежат одним слоем, а лотки имеют выделенные места. Размеры и число объектов взяты из M2/M7, не масштабирвать рисунок как точный чертеж.</a:t>
            </a:r>
          </a:p>
          <a:p xmlns:a="http://schemas.openxmlformats.org/drawingml/2006/main">
            <a:r>
              <a:t>Источники: 02_Спецификация/параметры_системы.yaml (M7-v1.8); 08_Записка/figures/03_Компоновка_ячейки_M7.png; 08_Записка/source/Пояснительная_записка.md, раздел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0:35. Изометрия показывает программную геометрию, а не фотографию изготовленного устройства. Рука имеет четыре независимые координаты; параллельные пальцы связаны механически и управляются одной дополнительной координатой. Длины звеньев и габариты детали даны в SSOT.</a:t>
            </a:r>
          </a:p>
          <a:p xmlns:a="http://schemas.openxmlformats.org/drawingml/2006/main">
            <a:r>
              <a:t>Источники: 02_Спецификация/Архитектура.md; 02_Спецификация/параметры_системы.yaml; 08_Записка/figures/02_SCARA_изометрия_M7.png.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0:45. Объяснить структуру R–R–P–R: первые два поворотных сочленения задают XY, вертикальный ползун — Z, запястье — yaw. Формулы — прямая кинематика TCP в координатах BASE с учетом базового смещения. При обратной задаче аналитически рассматриваются обе ветви локтя, кандидаты фильтруются по физическим пределам, затем решение проверяется повторным FK.</a:t>
            </a:r>
          </a:p>
          <a:p xmlns:a="http://schemas.openxmlformats.org/drawingml/2006/main">
            <a:r>
              <a:t>Источник: 02_Спецификация/Кинематика.md, разделы 2–5; 04_Программа/kinematics/scara.py; длины из 02_Спецификация/параметры_системы.yaml.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0:40. Показать входной сенсорный кадр и отдельно пояснить границу данных: контроллер классифицирует RGB-наблюдение, evaluator после запуска сравнивает его с эталоном. На первых публичных кадрах 30 RED, 30 GREEN и 30 BLUE объектов классифицированы правильно. Средняя XY-ошибка 0,415 мм, максимум 1,316 мм; значение относится к ограниченным условиям кампании.</a:t>
            </a:r>
          </a:p>
          <a:p xmlns:a="http://schemas.openxmlformats.org/drawingml/2006/main">
            <a:r>
              <a:t>Источники: 07_Испытания/campaign_results.json, baseline_first_view_color; 07_Испытания/Анализ.md; 06_Медиа/M9/single_red_center-2d771e58cc/кадры/detection.png.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0:40. Траектория на графике — фактическая TCP-телеметрия одного зарегистрированного успешного прогона, а не средняя по кампании. Планировщик проверяет суставные и скоростные ограничения и геометрию всей руки, захвата и груза. Проверка дискретная и не дает непрерывной формальной гарантии отсутствия контакта между отсчетами. При неприемлемом пути контроллер должен отказаться от движения к цели.</a:t>
            </a:r>
          </a:p>
          <a:p xmlns:a="http://schemas.openxmlformats.org/drawingml/2006/main">
            <a:r>
              <a:t>Источники: 02_Спецификация/Траектории_и_коллизии.md; 07_Испытания/Анализ.md, разделы 2 и 3; 08_Записка/figures/10_Траектория_M9.png.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0:45. Показать основной цикл: свежее наблюдение, выбор цели/слота и preflight, подход, захват, проверка удержания, перенос и проверка укладки свежей RGB-камерой. Схема намеренно верхнеуровневая; полная диаграмма состояний и guards остаются в записке. UNKNOWN, недоступный объект и занятый слот не превращаются в ложную сортировку; сбой камеры или удержания вызывает ограниченную реакцию или SAFE_STOP.</a:t>
            </a:r>
          </a:p>
          <a:p xmlns:a="http://schemas.openxmlformats.org/drawingml/2006/main">
            <a:r>
              <a:t>Источники: 02_Спецификация/FSM.md; 08_Записка/figures/07_FSM_M6.png; 08_Записка/figures/14_Исполнение_и_проверка_укладки_M6.png.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0:35. Проследить три реальные стадии одной записанной виртуальной симуляции. Контактное удержание контролируется по сигналам пальцев и проверяется при подъеме; отпускание подтверждается отдельным RGB-кадром после безопасного отхода. Кадры иллюстрируют цифровой прогон, не физический прототип.</a:t>
            </a:r>
          </a:p>
          <a:p xmlns:a="http://schemas.openxmlformats.org/drawingml/2006/main">
            <a:r>
              <a:t>Источники: 06_Медиа/M9/single_red_center-2d771e58cc/Запись_и_связанные_логи.json; 07_Испытания/runs/single_red_center-2d771e58cc/evaluator/report.json; 08_Записка/figures/14_Исполнение_и_проверка_укладки_M6.png.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0:30. Это один отдельный успешный прогон single_red_center: один красный объект, FSM завершился DONE. Видео связано с записьным parity-run и воспроизводимой конфигурацией, длительность 33,04 с при эффективном ускорении примерно 5×. Файл не встраивается в PPTX: рядом сохраняется MP4 и относительная ссылка, чтобы не раздувать презентацию; в приложении защиты ссылка еще не проверена. Не представлять этот run как среднее или итог кампании.</a:t>
            </a:r>
          </a:p>
          <a:p xmlns:a="http://schemas.openxmlformats.org/drawingml/2006/main">
            <a:r>
              <a:t>Источники: 06_Медиа/M9/single_red_center-2d771e58cc/Запись_и_связанные_логи.json; 06_Медиа/M9/single_red_center-2d771e58cc/Сверка_с_записью.json; MP4 в media/симуляция.mp4.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0:40. Описать кампанию по зарегистрированному протоколу M9: 98 запусков проанализированы, основной V03 — 30 независимых трехобъектных партий с заранее установленным порогом 27 полных партий. 84/98 — соответствие ожидаемому исходу для разных функциональных и стресс-тестов; сюда входят корректные безопасные отказы, поэтому показатель нельзя называть успешной сортировкой.</a:t>
            </a:r>
          </a:p>
          <a:p xmlns:a="http://schemas.openxmlformats.org/drawingml/2006/main">
            <a:r>
              <a:t>Источники: 07_Испытания/campaign.yaml; 07_Испытания/campaign_results.json; 01_Управление/приемка/M09.md.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0:55. Единица анализа — полная трехобъектная партия, а не один объект. Получено 21/30 или 70%, при заранее установленном пороге 27/30 (90%); Wilson 95% интервал 52,1–83,3%. Поэтому основная функциональная цель не достигнута. Отдельно: 73/90 объектов попали в верную зону; в этой именно серии evaluator не зарегистрировал wrong-bin, запрещенных контактов и превышений ограничений. Ноль нарушений безопасности не превращает безопасно отклоненную цель в сортировку.</a:t>
            </a:r>
          </a:p>
          <a:p xmlns:a="http://schemas.openxmlformats.org/drawingml/2006/main">
            <a:r>
              <a:t>Источник: 07_Испытания/campaign_results.json, primary_baseline и series[V03]; 07_Испытания/Анализ.md, раздел 2; 08_Записка/tables/Сводка_M9_для_записки.csv.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0:55. Разделить три вида ограничения. В V03 17 объектов были безопасно отклонены планировщиком из-за COLLISION_GRASP, команды для этих целей не выдавались. В V02 шесть объектов обнаружены, три подтверждены evaluator, но случился один контакт пальца с ранее размещенной деталью; автомат перешел в SAFE_STOP. В двух световых стресс-прогонах evaluator подтвердил правильную укладку, но публичная камера и контроллер не подтвердили ее и выдали PLACE_VERIFICATION_TIMEOUT. Это ограничение проверки, а не ошибка цветового класса.</a:t>
            </a:r>
          </a:p>
          <a:p xmlns:a="http://schemas.openxmlformats.org/drawingml/2006/main">
            <a:r>
              <a:t>Источники: 07_Испытания/Анализ.md, разделы 2–4; 07_Испытания/campaign_results.json; `07_Испытания/runs/m9_six_object_grid-0ce3eda3ca/evaluator/report.json`.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0:35. Подвести итог: создана программная ячейка с SCARA, RGB-perception, кинематикой, планировщиком, FSM и контактной моделью. Кампания воспроизводима, но итог смешанной сортировки ниже заранее заданной цели: 21/30 вместо 27/30. Поэтому корректный вывод — отдельные полные виртуальные циклы достигнуты, а приемочная полнота не достигнута. Следующий технический шаг — анализ отказов захвата и учет заполнения слотов, затем повторная кампания; этот доклад не утверждает результаты физической сборки.</a:t>
            </a:r>
          </a:p>
          <a:p xmlns:a="http://schemas.openxmlformats.org/drawingml/2006/main">
            <a:r>
              <a:t>Источники: 08_Записка/source/Пояснительная_записка.md, заключение; 07_Испытания/Анализ.md; 07_Испытания/tables/Проверка_повторяемости_V14.json.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ea67daad642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1a1acfeac848b7" /><Relationship Type="http://schemas.openxmlformats.org/officeDocument/2006/relationships/slideLayout" Target="/ppt/slideLayouts/slideLayout1.xml" Id="Rc5d21651290942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d21651290942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c195cea774239" /><Relationship Type="http://schemas.openxmlformats.org/officeDocument/2006/relationships/notesSlide" Target="/ppt/notesSlides/notesSlide1.xml" Id="Rfbb9710214a34a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17d39eb674bc3" /><Relationship Type="http://schemas.openxmlformats.org/officeDocument/2006/relationships/notesSlide" Target="/ppt/notesSlides/notesSlide2.xml" Id="Re7707b7bf63d40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70ac67a0c4c73" /><Relationship Type="http://schemas.openxmlformats.org/officeDocument/2006/relationships/notesSlide" Target="/ppt/notesSlides/notesSlide3.xml" Id="R6ea29dbad1774d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41fa24aa74eb0" /><Relationship Type="http://schemas.openxmlformats.org/officeDocument/2006/relationships/image" Target="/ppt/media/image.png" Id="R4a26b6a4b2064e86" /><Relationship Type="http://schemas.openxmlformats.org/officeDocument/2006/relationships/notesSlide" Target="/ppt/notesSlides/notesSlide4.xml" Id="R36763daef3e8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7c51693ae4edc" /><Relationship Type="http://schemas.openxmlformats.org/officeDocument/2006/relationships/image" Target="/ppt/media/image2.png" Id="Rabb8800138d6493e" /><Relationship Type="http://schemas.openxmlformats.org/officeDocument/2006/relationships/notesSlide" Target="/ppt/notesSlides/notesSlide5.xml" Id="R1786904c7db440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9cedfc6c94bc0" /><Relationship Type="http://schemas.openxmlformats.org/officeDocument/2006/relationships/notesSlide" Target="/ppt/notesSlides/notesSlide6.xml" Id="R48e66d4a080f40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f1ac9b86c451c" /><Relationship Type="http://schemas.openxmlformats.org/officeDocument/2006/relationships/image" Target="/ppt/media/image3.png" Id="Re17e0dc047024339" /><Relationship Type="http://schemas.openxmlformats.org/officeDocument/2006/relationships/notesSlide" Target="/ppt/notesSlides/notesSlide7.xml" Id="R261c09ddfc8a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0eb885b7c4a90" /><Relationship Type="http://schemas.openxmlformats.org/officeDocument/2006/relationships/image" Target="/ppt/media/image4.png" Id="Rce242014f4654255" /><Relationship Type="http://schemas.openxmlformats.org/officeDocument/2006/relationships/notesSlide" Target="/ppt/notesSlides/notesSlide8.xml" Id="Rcd101235acca44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b3ba75ead42ff" /><Relationship Type="http://schemas.openxmlformats.org/officeDocument/2006/relationships/notesSlide" Target="/ppt/notesSlides/notesSlide9.xml" Id="Rc2336587813d41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1b62a2bfc4fe0" /><Relationship Type="http://schemas.openxmlformats.org/officeDocument/2006/relationships/image" Target="/ppt/media/image5.png" Id="Rc3dcd2a4c4e84f3e" /><Relationship Type="http://schemas.openxmlformats.org/officeDocument/2006/relationships/image" Target="/ppt/media/image6.png" Id="R8cf28f143c5d4205" /><Relationship Type="http://schemas.openxmlformats.org/officeDocument/2006/relationships/image" Target="/ppt/media/image7.png" Id="Rbfbfce9964a94f40" /><Relationship Type="http://schemas.openxmlformats.org/officeDocument/2006/relationships/notesSlide" Target="/ppt/notesSlides/notesSlide10.xml" Id="R2db9eb44bbe94e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a60ef278c4329" /><Relationship Type="http://schemas.openxmlformats.org/officeDocument/2006/relationships/image" Target="/ppt/media/image8.png" Id="R8c06af48b59148f1" /><Relationship Type="http://schemas.openxmlformats.org/officeDocument/2006/relationships/hyperlink" Target="media/&#1089;&#1080;&#1084;&#1091;&#1083;&#1103;&#1094;&#1080;&#1103;.mp4" TargetMode="External" Id="Rb4d63bab3210414c" /><Relationship Type="http://schemas.openxmlformats.org/officeDocument/2006/relationships/notesSlide" Target="/ppt/notesSlides/notesSlide11.xml" Id="Rcb8ccbcfed764d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93b4794624286" /><Relationship Type="http://schemas.openxmlformats.org/officeDocument/2006/relationships/notesSlide" Target="/ppt/notesSlides/notesSlide12.xml" Id="R6eaa052fa1904f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dd117cda44d0f" /><Relationship Type="http://schemas.openxmlformats.org/officeDocument/2006/relationships/notesSlide" Target="/ppt/notesSlides/notesSlide13.xml" Id="Rf45a7534852f46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210844223477c" /><Relationship Type="http://schemas.openxmlformats.org/officeDocument/2006/relationships/notesSlide" Target="/ppt/notesSlides/notesSlide14.xml" Id="Rc837ef1f3a944c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feeaa3a754b94" /><Relationship Type="http://schemas.openxmlformats.org/officeDocument/2006/relationships/notesSlide" Target="/ppt/notesSlides/notesSlide15.xml" Id="Rbc8bb5f1356344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611E5-A305-444C-9E1C-00408258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047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agency">
            <a:extLst xmlns:a="http://schemas.openxmlformats.org/drawingml/2006/main">
              <a:ext uri="{FF2B5EF4-FFF2-40B4-BE49-F238E27FC236}">
                <a16:creationId xmlns:a16="http://schemas.microsoft.com/office/drawing/2014/main" id="{3029048D-6781-48D7-8EB1-D701B6F1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ФЕДЕРАЛЬНОЕ АГЕНТСТВО РОССИЙСКОЙ ФЕДЕРАЦИИ ПО РЫБОЛОВСТВУ</a:t>
            </a:r>
          </a:p>
        </p:txBody>
      </p:sp>
      <p:sp>
        <p:nvSpPr>
          <p:cNvPr id="3" name="cover-university">
            <a:extLst xmlns:a="http://schemas.openxmlformats.org/drawingml/2006/main">
              <a:ext uri="{FF2B5EF4-FFF2-40B4-BE49-F238E27FC236}">
                <a16:creationId xmlns:a16="http://schemas.microsoft.com/office/drawing/2014/main" id="{CD215E2F-3D53-48C6-ADAB-7A3B35A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АСТРАХАНСКИЙ ГОСУДАРСТВЕННЫЙ ТЕХНИЧЕСКИЙ УНИВЕРСИТЕТ</a:t>
            </a:r>
          </a:p>
        </p:txBody>
      </p:sp>
      <p:sp>
        <p:nvSpPr>
          <p:cNvPr id="4" name="cover-department">
            <a:extLst xmlns:a="http://schemas.openxmlformats.org/drawingml/2006/main">
              <a:ext uri="{FF2B5EF4-FFF2-40B4-BE49-F238E27FC236}">
                <a16:creationId xmlns:a16="http://schemas.microsoft.com/office/drawing/2014/main" id="{1F025BDC-15E1-428F-B50F-C165F252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Институт информационных технологий и коммуникаций</a:t>
            </a:r>
          </a:p>
          <a:p xmlns:a="http://schemas.openxmlformats.org/drawingml/2006/main">
            <a:pPr algn="ctr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Кафедра автоматизированных систем обработки информации и управления</a:t>
            </a:r>
          </a:p>
        </p:txBody>
      </p:sp>
      <p:sp>
        <p:nvSpPr>
          <p:cNvPr id="5" name="cover-type">
            <a:extLst xmlns:a="http://schemas.openxmlformats.org/drawingml/2006/main">
              <a:ext uri="{FF2B5EF4-FFF2-40B4-BE49-F238E27FC236}">
                <a16:creationId xmlns:a16="http://schemas.microsoft.com/office/drawing/2014/main" id="{D95617EE-8B42-48FA-B3AF-4B3F7508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479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КУРСОВАЯ РАБОТА</a:t>
            </a:r>
          </a:p>
        </p:txBody>
      </p:sp>
      <p:sp>
        <p:nvSpPr>
          <p:cNvPr id="6" name="cover-topic">
            <a:extLst xmlns:a="http://schemas.openxmlformats.org/drawingml/2006/main">
              <a:ext uri="{FF2B5EF4-FFF2-40B4-BE49-F238E27FC236}">
                <a16:creationId xmlns:a16="http://schemas.microsoft.com/office/drawing/2014/main" id="{9CF6BBA4-AA96-4C79-AB16-08A787AC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9906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731"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Моделирование и симуляция робота-манипулятора,</a:t>
            </a:r>
          </a:p>
          <a:p xmlns:a="http://schemas.openxmlformats.org/drawingml/2006/main">
            <a:pPr algn="ctr">
              <a:defRPr sz="32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выполняющего задачу сортировки объектов по цвету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F4CBF-8B2E-4FF9-9179-95BF66B1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81525"/>
            <a:ext cx="466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51E8B0CA-1A5A-4B4C-AB81-68CFE14B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5585C"/>
                </a:solidFill>
                <a:latin typeface="Arial"/>
                <a:ea typeface="Arial"/>
                <a:cs typeface="Arial"/>
              </a:rPr>
              <a:t>по дисциплине «Моделирование роботов»</a:t>
            </a:r>
          </a:p>
        </p:txBody>
      </p:sp>
      <p:sp>
        <p:nvSpPr>
          <p:cNvPr id="9" name="cover-student">
            <a:extLst xmlns:a="http://schemas.openxmlformats.org/drawingml/2006/main">
              <a:ext uri="{FF2B5EF4-FFF2-40B4-BE49-F238E27FC236}">
                <a16:creationId xmlns:a16="http://schemas.microsoft.com/office/drawing/2014/main" id="{B88093E1-FB06-4A2E-96B5-35B65DFE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625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1717"/>
                </a:solidFill>
                <a:latin typeface="Arial"/>
                <a:ea typeface="Arial"/>
                <a:cs typeface="Arial"/>
              </a:rPr>
              <a:t>Выполнил: Шатуев Руслан Саматович</a:t>
            </a:r>
          </a:p>
          <a:p xmlns:a="http://schemas.openxmlformats.org/drawingml/2006/main">
            <a:pPr algn="l">
              <a:defRPr sz="157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1717"/>
                </a:solidFill>
                <a:latin typeface="Arial"/>
                <a:ea typeface="Arial"/>
                <a:cs typeface="Arial"/>
              </a:rPr>
              <a:t>Группа: ДИНРб-31</a:t>
            </a:r>
          </a:p>
        </p:txBody>
      </p:sp>
      <p:sp>
        <p:nvSpPr>
          <p:cNvPr id="10" name="cover-advisor">
            <a:extLst xmlns:a="http://schemas.openxmlformats.org/drawingml/2006/main">
              <a:ext uri="{FF2B5EF4-FFF2-40B4-BE49-F238E27FC236}">
                <a16:creationId xmlns:a16="http://schemas.microsoft.com/office/drawing/2014/main" id="{7319D40A-056E-4DBC-870D-C0DFB5F2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62575"/>
            <a:ext cx="4429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1717"/>
                </a:solidFill>
                <a:latin typeface="Arial"/>
                <a:ea typeface="Arial"/>
                <a:cs typeface="Arial"/>
              </a:rPr>
              <a:t>Руководитель: Кузнецова В.Ю.</a:t>
            </a:r>
          </a:p>
        </p:txBody>
      </p:sp>
      <p:sp>
        <p:nvSpPr>
          <p:cNvPr id="11" name="cover-city-year">
            <a:extLst xmlns:a="http://schemas.openxmlformats.org/drawingml/2006/main">
              <a:ext uri="{FF2B5EF4-FFF2-40B4-BE49-F238E27FC236}">
                <a16:creationId xmlns:a16="http://schemas.microsoft.com/office/drawing/2014/main" id="{85235FE4-9707-40B8-BC32-876B169C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143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Астрахань — 2026</a:t>
            </a:r>
          </a:p>
        </p:txBody>
      </p:sp>
    </p:spTree>
    <p:extLst>
      <p:ext uri="{BB962C8B-B14F-4D97-AF65-F5344CB8AC3E}">
        <p14:creationId xmlns:p14="http://schemas.microsoft.com/office/powerpoint/2010/main" val="1253580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E2EB4-6EF4-4CF5-897E-65BC0C49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2FE9EAB-4318-4B44-9754-464210E8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65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Цель — разработать и проверить виртуальную ячейку сортировки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F5E76-310A-403C-9235-5FE02594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3469BA47-D83D-4BBF-86AF-1BAADFD7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A8F540CF-B3A9-44CC-A51C-69036797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goal-statement">
            <a:extLst xmlns:a="http://schemas.openxmlformats.org/drawingml/2006/main">
              <a:ext uri="{FF2B5EF4-FFF2-40B4-BE49-F238E27FC236}">
                <a16:creationId xmlns:a16="http://schemas.microsoft.com/office/drawing/2014/main" id="{F2C7D081-6828-4DBD-A2CC-756D8CC1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Манипулятор должен определить цвет и положение объекта по RGB-кадру, захватить его и перенести в ячейку соответствующего класса.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420BE-508D-4D07-87DC-B13D030F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oal-01-number">
            <a:extLst xmlns:a="http://schemas.openxmlformats.org/drawingml/2006/main">
              <a:ext uri="{FF2B5EF4-FFF2-40B4-BE49-F238E27FC236}">
                <a16:creationId xmlns:a16="http://schemas.microsoft.com/office/drawing/2014/main" id="{BDB0EA86-C37A-4599-9AB0-A606BBFE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goal-01-title">
            <a:extLst xmlns:a="http://schemas.openxmlformats.org/drawingml/2006/main">
              <a:ext uri="{FF2B5EF4-FFF2-40B4-BE49-F238E27FC236}">
                <a16:creationId xmlns:a16="http://schemas.microsoft.com/office/drawing/2014/main" id="{E21FFADB-9192-4729-8839-CAF0AF74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Задать геометрию</a:t>
            </a:r>
          </a:p>
        </p:txBody>
      </p:sp>
      <p:sp>
        <p:nvSpPr>
          <p:cNvPr id="10" name="goal-01-body">
            <a:extLst xmlns:a="http://schemas.openxmlformats.org/drawingml/2006/main">
              <a:ext uri="{FF2B5EF4-FFF2-40B4-BE49-F238E27FC236}">
                <a16:creationId xmlns:a16="http://schemas.microsoft.com/office/drawing/2014/main" id="{505D5342-091C-4833-A38C-39D12DC6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85C"/>
                </a:solidFill>
                <a:latin typeface="Arial"/>
                <a:ea typeface="Arial"/>
                <a:cs typeface="Arial"/>
              </a:rPr>
              <a:t>SCARA, рабочая ячейка, ограничения суставов</a:t>
            </a:r>
          </a:p>
        </p:txBody>
      </p:sp>
      <p:sp>
        <p:nvSpPr>
          <p:cNvPr id="11" name="goal-02-number">
            <a:extLst xmlns:a="http://schemas.openxmlformats.org/drawingml/2006/main">
              <a:ext uri="{FF2B5EF4-FFF2-40B4-BE49-F238E27FC236}">
                <a16:creationId xmlns:a16="http://schemas.microsoft.com/office/drawing/2014/main" id="{2A323F1A-3C42-498C-A4D6-D1B5EDE1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241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goal-02-title">
            <a:extLst xmlns:a="http://schemas.openxmlformats.org/drawingml/2006/main">
              <a:ext uri="{FF2B5EF4-FFF2-40B4-BE49-F238E27FC236}">
                <a16:creationId xmlns:a16="http://schemas.microsoft.com/office/drawing/2014/main" id="{3B0D8372-6872-4B4D-BB71-8563313F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241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Рассчитать движение</a:t>
            </a:r>
          </a:p>
        </p:txBody>
      </p:sp>
      <p:sp>
        <p:nvSpPr>
          <p:cNvPr id="13" name="goal-02-body">
            <a:extLst xmlns:a="http://schemas.openxmlformats.org/drawingml/2006/main">
              <a:ext uri="{FF2B5EF4-FFF2-40B4-BE49-F238E27FC236}">
                <a16:creationId xmlns:a16="http://schemas.microsoft.com/office/drawing/2014/main" id="{876CFCB2-15C0-4332-96B5-471A55FD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3250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85C"/>
                </a:solidFill>
                <a:latin typeface="Arial"/>
                <a:ea typeface="Arial"/>
                <a:cs typeface="Arial"/>
              </a:rPr>
              <a:t>FK/IK, траектория и контроль столкновений</a:t>
            </a:r>
          </a:p>
        </p:txBody>
      </p:sp>
      <p:sp>
        <p:nvSpPr>
          <p:cNvPr id="14" name="goal-03-number">
            <a:extLst xmlns:a="http://schemas.openxmlformats.org/drawingml/2006/main">
              <a:ext uri="{FF2B5EF4-FFF2-40B4-BE49-F238E27FC236}">
                <a16:creationId xmlns:a16="http://schemas.microsoft.com/office/drawing/2014/main" id="{7FBC1816-C2EA-4C4F-AA03-5C73299A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goal-03-title">
            <a:extLst xmlns:a="http://schemas.openxmlformats.org/drawingml/2006/main">
              <a:ext uri="{FF2B5EF4-FFF2-40B4-BE49-F238E27FC236}">
                <a16:creationId xmlns:a16="http://schemas.microsoft.com/office/drawing/2014/main" id="{697A83E0-E72C-454E-98DD-3AE99DC4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290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Распознать объект</a:t>
            </a:r>
          </a:p>
        </p:txBody>
      </p:sp>
      <p:sp>
        <p:nvSpPr>
          <p:cNvPr id="16" name="goal-03-body">
            <a:extLst xmlns:a="http://schemas.openxmlformats.org/drawingml/2006/main">
              <a:ext uri="{FF2B5EF4-FFF2-40B4-BE49-F238E27FC236}">
                <a16:creationId xmlns:a16="http://schemas.microsoft.com/office/drawing/2014/main" id="{49FC8AB9-5D27-4CC9-AC85-B3DFEC5F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85C"/>
                </a:solidFill>
                <a:latin typeface="Arial"/>
                <a:ea typeface="Arial"/>
                <a:cs typeface="Arial"/>
              </a:rPr>
              <a:t>RGB-кадр, цвет, XY и ориентация</a:t>
            </a:r>
          </a:p>
        </p:txBody>
      </p:sp>
      <p:sp>
        <p:nvSpPr>
          <p:cNvPr id="17" name="goal-04-number">
            <a:extLst xmlns:a="http://schemas.openxmlformats.org/drawingml/2006/main">
              <a:ext uri="{FF2B5EF4-FFF2-40B4-BE49-F238E27FC236}">
                <a16:creationId xmlns:a16="http://schemas.microsoft.com/office/drawing/2014/main" id="{BBD6EF73-8163-4716-BB33-24D0B3F4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goal-04-title">
            <a:extLst xmlns:a="http://schemas.openxmlformats.org/drawingml/2006/main">
              <a:ext uri="{FF2B5EF4-FFF2-40B4-BE49-F238E27FC236}">
                <a16:creationId xmlns:a16="http://schemas.microsoft.com/office/drawing/2014/main" id="{6AED7B22-4795-4DEA-8C11-FBCF85A0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290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Выполнить сортировку</a:t>
            </a:r>
          </a:p>
        </p:txBody>
      </p:sp>
      <p:sp>
        <p:nvSpPr>
          <p:cNvPr id="19" name="goal-04-body">
            <a:extLst xmlns:a="http://schemas.openxmlformats.org/drawingml/2006/main">
              <a:ext uri="{FF2B5EF4-FFF2-40B4-BE49-F238E27FC236}">
                <a16:creationId xmlns:a16="http://schemas.microsoft.com/office/drawing/2014/main" id="{32FBFFD1-22A3-4E73-80D7-A813AA57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481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85C"/>
                </a:solidFill>
                <a:latin typeface="Arial"/>
                <a:ea typeface="Arial"/>
                <a:cs typeface="Arial"/>
              </a:rPr>
              <a:t>Контактный захват, FSM, проверка укладки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A8289-4B18-4733-94FC-67C02B13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oal-scope">
            <a:extLst xmlns:a="http://schemas.openxmlformats.org/drawingml/2006/main">
              <a:ext uri="{FF2B5EF4-FFF2-40B4-BE49-F238E27FC236}">
                <a16:creationId xmlns:a16="http://schemas.microsoft.com/office/drawing/2014/main" id="{59603134-FC83-4A48-A7E0-16589AC4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Физический прототип не изготовлялся. Проверка и результаты относятся только к программной симуляции.</a:t>
            </a:r>
          </a:p>
        </p:txBody>
      </p:sp>
    </p:spTree>
    <p:extLst>
      <p:ext uri="{BB962C8B-B14F-4D97-AF65-F5344CB8AC3E}">
        <p14:creationId xmlns:p14="http://schemas.microsoft.com/office/powerpoint/2010/main" val="1333649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1D92E-A479-4781-BBB3-DD04C252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17860C7-E95F-4901-864E-5FD33D77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91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Архитектура разделяет управление и независимую оценку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29912-1B86-4673-8A8C-C4A4A684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A8AA5617-15C7-4FDE-849F-3D044907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F772A495-29BC-4950-8C05-DDD7BF9F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architecture-loop-label">
            <a:extLst xmlns:a="http://schemas.openxmlformats.org/drawingml/2006/main">
              <a:ext uri="{FF2B5EF4-FFF2-40B4-BE49-F238E27FC236}">
                <a16:creationId xmlns:a16="http://schemas.microsoft.com/office/drawing/2014/main" id="{9BE01048-D2D8-4D47-9C72-0831F295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УПРАВЛЯЮЩИЙ КОНТУР · только публичные наблюдения и состояние суставов</a:t>
            </a:r>
          </a:p>
        </p:txBody>
      </p:sp>
      <p:sp>
        <p:nvSpPr>
          <p:cNvPr id="7" name="architecture-block-1">
            <a:extLst xmlns:a="http://schemas.openxmlformats.org/drawingml/2006/main">
              <a:ext uri="{FF2B5EF4-FFF2-40B4-BE49-F238E27FC236}">
                <a16:creationId xmlns:a16="http://schemas.microsoft.com/office/drawing/2014/main" id="{EA7D531F-2645-4E4F-96D4-A8EFDBDD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8573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71717"/>
            </a:solidFill>
            <a:prstDash val="solid"/>
          </a:ln>
        </p:spPr>
      </p:sp>
      <p:sp>
        <p:nvSpPr>
          <p:cNvPr id="8" name="architecture-block-1-heading">
            <a:extLst xmlns:a="http://schemas.openxmlformats.org/drawingml/2006/main">
              <a:ext uri="{FF2B5EF4-FFF2-40B4-BE49-F238E27FC236}">
                <a16:creationId xmlns:a16="http://schemas.microsoft.com/office/drawing/2014/main" id="{D338A4F5-A725-47F5-9AE8-9E844FCB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628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RGB-камеры</a:t>
            </a:r>
          </a:p>
        </p:txBody>
      </p:sp>
      <p:sp>
        <p:nvSpPr>
          <p:cNvPr id="9" name="architecture-block-1-body">
            <a:extLst xmlns:a="http://schemas.openxmlformats.org/drawingml/2006/main">
              <a:ext uri="{FF2B5EF4-FFF2-40B4-BE49-F238E27FC236}">
                <a16:creationId xmlns:a16="http://schemas.microsoft.com/office/drawing/2014/main" id="{5288981F-CF94-4C41-8651-7B5B34E0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628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overhead_rgb</a:t>
            </a:r>
          </a:p>
          <a:p xmlns:a="http://schemas.openxmlformats.org/drawingml/2006/main">
            <a:pPr algn="ctr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placement_rgb</a:t>
            </a:r>
          </a:p>
        </p:txBody>
      </p:sp>
      <p:sp>
        <p:nvSpPr>
          <p:cNvPr id="10" name="architecture-block-2">
            <a:extLst xmlns:a="http://schemas.openxmlformats.org/drawingml/2006/main">
              <a:ext uri="{FF2B5EF4-FFF2-40B4-BE49-F238E27FC236}">
                <a16:creationId xmlns:a16="http://schemas.microsoft.com/office/drawing/2014/main" id="{B73EE5E4-9EAD-43E4-A497-4A8A5968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33600"/>
            <a:ext cx="18573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71717"/>
            </a:solidFill>
            <a:prstDash val="solid"/>
          </a:ln>
        </p:spPr>
      </p:sp>
      <p:sp>
        <p:nvSpPr>
          <p:cNvPr id="11" name="architecture-block-2-heading">
            <a:extLst xmlns:a="http://schemas.openxmlformats.org/drawingml/2006/main">
              <a:ext uri="{FF2B5EF4-FFF2-40B4-BE49-F238E27FC236}">
                <a16:creationId xmlns:a16="http://schemas.microsoft.com/office/drawing/2014/main" id="{89D5EDC4-064E-4133-AEA5-CB57C1B4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66950"/>
            <a:ext cx="1628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2" name="architecture-block-2-body">
            <a:extLst xmlns:a="http://schemas.openxmlformats.org/drawingml/2006/main">
              <a:ext uri="{FF2B5EF4-FFF2-40B4-BE49-F238E27FC236}">
                <a16:creationId xmlns:a16="http://schemas.microsoft.com/office/drawing/2014/main" id="{69D54ECF-69FD-490B-8EA0-C431E393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00350"/>
            <a:ext cx="1628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цвет · XY · yaw</a:t>
            </a:r>
          </a:p>
          <a:p xmlns:a="http://schemas.openxmlformats.org/drawingml/2006/main">
            <a:pPr algn="ctr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confidence / UNKNOWN</a:t>
            </a:r>
          </a:p>
        </p:txBody>
      </p:sp>
      <p:sp>
        <p:nvSpPr>
          <p:cNvPr id="13" name="architecture-block-3">
            <a:extLst xmlns:a="http://schemas.openxmlformats.org/drawingml/2006/main">
              <a:ext uri="{FF2B5EF4-FFF2-40B4-BE49-F238E27FC236}">
                <a16:creationId xmlns:a16="http://schemas.microsoft.com/office/drawing/2014/main" id="{2022055A-147F-41DC-B656-37B94BBE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33600"/>
            <a:ext cx="18573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71717"/>
            </a:solidFill>
            <a:prstDash val="solid"/>
          </a:ln>
        </p:spPr>
      </p:sp>
      <p:sp>
        <p:nvSpPr>
          <p:cNvPr id="14" name="architecture-block-3-heading">
            <a:extLst xmlns:a="http://schemas.openxmlformats.org/drawingml/2006/main">
              <a:ext uri="{FF2B5EF4-FFF2-40B4-BE49-F238E27FC236}">
                <a16:creationId xmlns:a16="http://schemas.microsoft.com/office/drawing/2014/main" id="{67E845AA-44C4-4A27-B603-17027327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1628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76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Кинематика и путь</a:t>
            </a:r>
          </a:p>
        </p:txBody>
      </p:sp>
      <p:sp>
        <p:nvSpPr>
          <p:cNvPr id="15" name="architecture-block-3-body">
            <a:extLst xmlns:a="http://schemas.openxmlformats.org/drawingml/2006/main">
              <a:ext uri="{FF2B5EF4-FFF2-40B4-BE49-F238E27FC236}">
                <a16:creationId xmlns:a16="http://schemas.microsoft.com/office/drawing/2014/main" id="{61C4CACD-48C9-4954-ADF2-CE401D20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00350"/>
            <a:ext cx="1628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FK / IK</a:t>
            </a:r>
          </a:p>
          <a:p xmlns:a="http://schemas.openxmlformats.org/drawingml/2006/main">
            <a:pPr algn="ctr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проверка столкновений</a:t>
            </a:r>
          </a:p>
        </p:txBody>
      </p:sp>
      <p:sp>
        <p:nvSpPr>
          <p:cNvPr id="16" name="architecture-block-4">
            <a:extLst xmlns:a="http://schemas.openxmlformats.org/drawingml/2006/main">
              <a:ext uri="{FF2B5EF4-FFF2-40B4-BE49-F238E27FC236}">
                <a16:creationId xmlns:a16="http://schemas.microsoft.com/office/drawing/2014/main" id="{D9FCEC00-0FA9-4975-AD19-4861753D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33600"/>
            <a:ext cx="18573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71717"/>
            </a:solidFill>
            <a:prstDash val="solid"/>
          </a:ln>
        </p:spPr>
      </p:sp>
      <p:sp>
        <p:nvSpPr>
          <p:cNvPr id="17" name="architecture-block-4-heading">
            <a:extLst xmlns:a="http://schemas.openxmlformats.org/drawingml/2006/main">
              <a:ext uri="{FF2B5EF4-FFF2-40B4-BE49-F238E27FC236}">
                <a16:creationId xmlns:a16="http://schemas.microsoft.com/office/drawing/2014/main" id="{54E25311-CBFD-42BF-AF8E-E11F2544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1628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38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Контроллер / FSM</a:t>
            </a:r>
          </a:p>
        </p:txBody>
      </p:sp>
      <p:sp>
        <p:nvSpPr>
          <p:cNvPr id="18" name="architecture-block-4-body">
            <a:extLst xmlns:a="http://schemas.openxmlformats.org/drawingml/2006/main">
              <a:ext uri="{FF2B5EF4-FFF2-40B4-BE49-F238E27FC236}">
                <a16:creationId xmlns:a16="http://schemas.microsoft.com/office/drawing/2014/main" id="{CE229306-3B5C-4F7B-9B92-B5039A70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00350"/>
            <a:ext cx="1628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выбор · захват</a:t>
            </a:r>
          </a:p>
          <a:p xmlns:a="http://schemas.openxmlformats.org/drawingml/2006/main">
            <a:pPr algn="ctr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перенос · отказ</a:t>
            </a:r>
          </a:p>
        </p:txBody>
      </p:sp>
      <p:sp>
        <p:nvSpPr>
          <p:cNvPr id="19" name="architecture-block-5">
            <a:extLst xmlns:a="http://schemas.openxmlformats.org/drawingml/2006/main">
              <a:ext uri="{FF2B5EF4-FFF2-40B4-BE49-F238E27FC236}">
                <a16:creationId xmlns:a16="http://schemas.microsoft.com/office/drawing/2014/main" id="{730A7389-7F06-4645-819B-79AD2AD9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8573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71717"/>
            </a:solidFill>
            <a:prstDash val="solid"/>
          </a:ln>
        </p:spPr>
      </p:sp>
      <p:sp>
        <p:nvSpPr>
          <p:cNvPr id="20" name="architecture-block-5-heading">
            <a:extLst xmlns:a="http://schemas.openxmlformats.org/drawingml/2006/main">
              <a:ext uri="{FF2B5EF4-FFF2-40B4-BE49-F238E27FC236}">
                <a16:creationId xmlns:a16="http://schemas.microsoft.com/office/drawing/2014/main" id="{1017BF46-3E2A-4E75-9405-CE349AB2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66950"/>
            <a:ext cx="1628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MuJoCo</a:t>
            </a:r>
          </a:p>
        </p:txBody>
      </p:sp>
      <p:sp>
        <p:nvSpPr>
          <p:cNvPr id="21" name="architecture-block-5-body">
            <a:extLst xmlns:a="http://schemas.openxmlformats.org/drawingml/2006/main">
              <a:ext uri="{FF2B5EF4-FFF2-40B4-BE49-F238E27FC236}">
                <a16:creationId xmlns:a16="http://schemas.microsoft.com/office/drawing/2014/main" id="{6576EA6C-148E-443B-8432-8734B638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0350"/>
            <a:ext cx="1628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динамика</a:t>
            </a:r>
          </a:p>
          <a:p xmlns:a="http://schemas.openxmlformats.org/drawingml/2006/main">
            <a:pPr algn="ctr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контакты и суставы</a:t>
            </a:r>
          </a:p>
        </p:txBody>
      </p: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38425" y="2867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95850" y="2867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53275" y="2867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410700" y="2867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26" name="architecture-command-label">
            <a:extLst xmlns:a="http://schemas.openxmlformats.org/drawingml/2006/main">
              <a:ext uri="{FF2B5EF4-FFF2-40B4-BE49-F238E27FC236}">
                <a16:creationId xmlns:a16="http://schemas.microsoft.com/office/drawing/2014/main" id="{21534919-4574-4696-8989-CE8E220B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528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85C"/>
                </a:solidFill>
                <a:latin typeface="Arial"/>
                <a:ea typeface="Arial"/>
                <a:cs typeface="Arial"/>
              </a:rPr>
              <a:t>Команды суставам</a:t>
            </a:r>
          </a:p>
        </p:txBody>
      </p:sp>
      <p:sp>
        <p:nvSpPr>
          <p:cNvPr id="27" name="evaluator-title">
            <a:extLst xmlns:a="http://schemas.openxmlformats.org/drawingml/2006/main">
              <a:ext uri="{FF2B5EF4-FFF2-40B4-BE49-F238E27FC236}">
                <a16:creationId xmlns:a16="http://schemas.microsoft.com/office/drawing/2014/main" id="{08B785AE-100E-47F5-BBFE-14084247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59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Независимый evaluator</a:t>
            </a:r>
          </a:p>
        </p:txBody>
      </p:sp>
      <p:sp>
        <p:nvSpPr>
          <p:cNvPr id="28" name="evaluator-boundary">
            <a:extLst xmlns:a="http://schemas.openxmlformats.org/drawingml/2006/main">
              <a:ext uri="{FF2B5EF4-FFF2-40B4-BE49-F238E27FC236}">
                <a16:creationId xmlns:a16="http://schemas.microsoft.com/office/drawing/2014/main" id="{254D83BB-C498-4DA0-B786-CE3AC04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1062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6193">
            <a:solidFill>
              <a:srgbClr val="171717"/>
            </a:solidFill>
            <a:prstDash val="dash"/>
          </a:ln>
        </p:spPr>
      </p:sp>
      <p:sp>
        <p:nvSpPr>
          <p:cNvPr id="29" name="evaluator-description">
            <a:extLst xmlns:a="http://schemas.openxmlformats.org/drawingml/2006/main">
              <a:ext uri="{FF2B5EF4-FFF2-40B4-BE49-F238E27FC236}">
                <a16:creationId xmlns:a16="http://schemas.microsoft.com/office/drawing/2014/main" id="{0216B64E-19FC-4EDF-A6F0-304D0349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48250"/>
            <a:ext cx="1014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727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72727"/>
                </a:solidFill>
                <a:latin typeface="Arial"/>
                <a:ea typeface="Arial"/>
                <a:cs typeface="Arial"/>
              </a:rPr>
              <a:t>После прогона сверяет истинный цвет, зону, слот, контакты и ограничения. Ground truth не поступает в контроллер.</a:t>
            </a:r>
          </a:p>
        </p:txBody>
      </p:sp>
    </p:spTree>
    <p:extLst>
      <p:ext uri="{BB962C8B-B14F-4D97-AF65-F5344CB8AC3E}">
        <p14:creationId xmlns:p14="http://schemas.microsoft.com/office/powerpoint/2010/main" val="1555907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0C1BF5-5B0D-4772-9625-0A99C9C2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07FA99E-704F-459C-9983-6E4AF11A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5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Рабочая ячейка объединяет подачу и три зоны сортировки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36FA0-3599-4B99-9D2A-327038A0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874FA79E-F4BC-41BC-B0A1-BC54A3DF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4B50B02F-48AA-43B3-A6F7-43366A49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6b6a4b2064e86"/>
          <a:stretch xmlns:a="http://schemas.openxmlformats.org/drawingml/2006/main"/>
        </p:blipFill>
        <p:spPr>
          <a:xfrm xmlns:a="http://schemas.openxmlformats.org/drawingml/2006/main">
            <a:off x="742950" y="2516302"/>
            <a:ext cx="5219700" cy="2739796"/>
          </a:xfrm>
          <a:prstGeom xmlns:a="http://schemas.openxmlformats.org/drawingml/2006/main" prst="rect">
            <a:avLst/>
          </a:prstGeom>
        </p:spPr>
      </p:pic>
      <p:sp>
        <p:nvSpPr>
          <p:cNvPr id="7" name="cell-kicker">
            <a:extLst xmlns:a="http://schemas.openxmlformats.org/drawingml/2006/main">
              <a:ext uri="{FF2B5EF4-FFF2-40B4-BE49-F238E27FC236}">
                <a16:creationId xmlns:a16="http://schemas.microsoft.com/office/drawing/2014/main" id="{C17FFD18-99AA-4D90-9124-6522E346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СТАТИЧНАЯ СЦЕНА</a:t>
            </a:r>
          </a:p>
        </p:txBody>
      </p:sp>
      <p:sp>
        <p:nvSpPr>
          <p:cNvPr id="8" name="cell-label-0">
            <a:extLst xmlns:a="http://schemas.openxmlformats.org/drawingml/2006/main">
              <a:ext uri="{FF2B5EF4-FFF2-40B4-BE49-F238E27FC236}">
                <a16:creationId xmlns:a16="http://schemas.microsoft.com/office/drawing/2014/main" id="{1C50AD04-0AA9-4120-BFB5-A750ECE4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6217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СТОЛ</a:t>
            </a:r>
          </a:p>
        </p:txBody>
      </p:sp>
      <p:sp>
        <p:nvSpPr>
          <p:cNvPr id="9" name="cell-value-0">
            <a:extLst xmlns:a="http://schemas.openxmlformats.org/drawingml/2006/main">
              <a:ext uri="{FF2B5EF4-FFF2-40B4-BE49-F238E27FC236}">
                <a16:creationId xmlns:a16="http://schemas.microsoft.com/office/drawing/2014/main" id="{1FC914D1-3800-4EAA-95E0-8BDAFF64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90775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1000 × 900 мм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6A0FB-C8D2-4A82-9D74-0C2C3F3E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ell-label-1">
            <a:extLst xmlns:a="http://schemas.openxmlformats.org/drawingml/2006/main">
              <a:ext uri="{FF2B5EF4-FFF2-40B4-BE49-F238E27FC236}">
                <a16:creationId xmlns:a16="http://schemas.microsoft.com/office/drawing/2014/main" id="{A7E6A356-BE49-41B6-8914-DAA5786D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12" name="cell-value-1">
            <a:extLst xmlns:a="http://schemas.openxmlformats.org/drawingml/2006/main">
              <a:ext uri="{FF2B5EF4-FFF2-40B4-BE49-F238E27FC236}">
                <a16:creationId xmlns:a16="http://schemas.microsoft.com/office/drawing/2014/main" id="{6DFB4919-BEF9-4C83-9820-B9719408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81325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6 объектов · 2 на класс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CD299-99B9-478D-AB04-466AADF2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ell-label-2">
            <a:extLst xmlns:a="http://schemas.openxmlformats.org/drawingml/2006/main">
              <a:ext uri="{FF2B5EF4-FFF2-40B4-BE49-F238E27FC236}">
                <a16:creationId xmlns:a16="http://schemas.microsoft.com/office/drawing/2014/main" id="{82157628-EDCD-4EA7-8D05-B1358F67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4327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СОРТИРОВКА</a:t>
            </a:r>
          </a:p>
        </p:txBody>
      </p:sp>
      <p:sp>
        <p:nvSpPr>
          <p:cNvPr id="15" name="cell-value-2">
            <a:extLst xmlns:a="http://schemas.openxmlformats.org/drawingml/2006/main">
              <a:ext uri="{FF2B5EF4-FFF2-40B4-BE49-F238E27FC236}">
                <a16:creationId xmlns:a16="http://schemas.microsoft.com/office/drawing/2014/main" id="{03C9F418-78D1-45E3-801D-89D88B5E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RED · GREEN · BLUE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31BA1-6766-4C4E-BF79-9924581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ell-label-3">
            <a:extLst xmlns:a="http://schemas.openxmlformats.org/drawingml/2006/main">
              <a:ext uri="{FF2B5EF4-FFF2-40B4-BE49-F238E27FC236}">
                <a16:creationId xmlns:a16="http://schemas.microsoft.com/office/drawing/2014/main" id="{208BEBAF-9A33-41D5-AC60-ECD2B3CB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ЛОТКИ</a:t>
            </a:r>
          </a:p>
        </p:txBody>
      </p:sp>
      <p:sp>
        <p:nvSpPr>
          <p:cNvPr id="18" name="cell-value-3">
            <a:extLst xmlns:a="http://schemas.openxmlformats.org/drawingml/2006/main">
              <a:ext uri="{FF2B5EF4-FFF2-40B4-BE49-F238E27FC236}">
                <a16:creationId xmlns:a16="http://schemas.microsoft.com/office/drawing/2014/main" id="{C7C91F94-8556-458E-80D7-CDF01C72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62425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 зоны · по 3 слота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4BB5B-6190-4049-9B98-45D920C2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ell-label-4">
            <a:extLst xmlns:a="http://schemas.openxmlformats.org/drawingml/2006/main">
              <a:ext uri="{FF2B5EF4-FFF2-40B4-BE49-F238E27FC236}">
                <a16:creationId xmlns:a16="http://schemas.microsoft.com/office/drawing/2014/main" id="{91D4785E-5015-48A4-8CB9-213E2ED0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ОБЪЕКТ</a:t>
            </a:r>
          </a:p>
        </p:txBody>
      </p:sp>
      <p:sp>
        <p:nvSpPr>
          <p:cNvPr id="21" name="cell-value-4">
            <a:extLst xmlns:a="http://schemas.openxmlformats.org/drawingml/2006/main">
              <a:ext uri="{FF2B5EF4-FFF2-40B4-BE49-F238E27FC236}">
                <a16:creationId xmlns:a16="http://schemas.microsoft.com/office/drawing/2014/main" id="{1E9BEFEE-38E1-4316-8FAA-177BA2CE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52975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28 × 28 × 16 мм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C9589-F2C4-4F0F-9DCC-87EC4253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8635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label-5">
            <a:extLst xmlns:a="http://schemas.openxmlformats.org/drawingml/2006/main">
              <a:ext uri="{FF2B5EF4-FFF2-40B4-BE49-F238E27FC236}">
                <a16:creationId xmlns:a16="http://schemas.microsoft.com/office/drawing/2014/main" id="{FE78C89D-2A99-493E-BEBE-30D5A54E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149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НАБЛЮДЕНИЕ</a:t>
            </a:r>
          </a:p>
        </p:txBody>
      </p:sp>
      <p:sp>
        <p:nvSpPr>
          <p:cNvPr id="24" name="cell-value-5">
            <a:extLst xmlns:a="http://schemas.openxmlformats.org/drawingml/2006/main">
              <a:ext uri="{FF2B5EF4-FFF2-40B4-BE49-F238E27FC236}">
                <a16:creationId xmlns:a16="http://schemas.microsoft.com/office/drawing/2014/main" id="{28D02654-CA5D-4E87-B90D-A6F56E90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43525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две фиксированные RGB-камеры</a:t>
            </a:r>
          </a:p>
        </p:txBody>
      </p:sp>
    </p:spTree>
    <p:extLst>
      <p:ext uri="{BB962C8B-B14F-4D97-AF65-F5344CB8AC3E}">
        <p14:creationId xmlns:p14="http://schemas.microsoft.com/office/powerpoint/2010/main" val="1634997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10CD4-D587-42A0-AF64-AE786DDE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9086DB1-C5DB-454E-B1C5-44BB1174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50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 модели задан SCARA с контактным двухпальцевым захватом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D7232-49F1-4F5E-9471-A172B29E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F6305095-BE12-4393-A94A-83738251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8425082E-F2E8-41CE-A231-7EE9299B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8800138d6493e"/>
          <a:stretch xmlns:a="http://schemas.openxmlformats.org/drawingml/2006/main"/>
        </p:blipFill>
        <p:spPr>
          <a:xfrm xmlns:a="http://schemas.openxmlformats.org/drawingml/2006/main">
            <a:off x="1060450" y="1533525"/>
            <a:ext cx="5994400" cy="4495800"/>
          </a:xfrm>
          <a:prstGeom xmlns:a="http://schemas.openxmlformats.org/drawingml/2006/main" prst="rect">
            <a:avLst/>
          </a:prstGeom>
        </p:spPr>
      </p:pic>
      <p:sp>
        <p:nvSpPr>
          <p:cNvPr id="7" name="model-four-dof-number">
            <a:extLst xmlns:a="http://schemas.openxmlformats.org/drawingml/2006/main">
              <a:ext uri="{FF2B5EF4-FFF2-40B4-BE49-F238E27FC236}">
                <a16:creationId xmlns:a16="http://schemas.microsoft.com/office/drawing/2014/main" id="{523684D5-A4F6-4B99-9649-72DBF7AD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106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model-four-dof-label">
            <a:extLst xmlns:a="http://schemas.openxmlformats.org/drawingml/2006/main">
              <a:ext uri="{FF2B5EF4-FFF2-40B4-BE49-F238E27FC236}">
                <a16:creationId xmlns:a16="http://schemas.microsoft.com/office/drawing/2014/main" id="{D17EBAFE-B08F-4C60-9070-D02DD4BB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7621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6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степени свободы руки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57A21-C6BB-4EB3-B686-7B7B2867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del-value-0">
            <a:extLst xmlns:a="http://schemas.openxmlformats.org/drawingml/2006/main">
              <a:ext uri="{FF2B5EF4-FFF2-40B4-BE49-F238E27FC236}">
                <a16:creationId xmlns:a16="http://schemas.microsoft.com/office/drawing/2014/main" id="{F272842F-2DD4-47CC-8343-9F265B9A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R–R–P–R</a:t>
            </a:r>
          </a:p>
        </p:txBody>
      </p:sp>
      <p:sp>
        <p:nvSpPr>
          <p:cNvPr id="11" name="model-label-0">
            <a:extLst xmlns:a="http://schemas.openxmlformats.org/drawingml/2006/main">
              <a:ext uri="{FF2B5EF4-FFF2-40B4-BE49-F238E27FC236}">
                <a16:creationId xmlns:a16="http://schemas.microsoft.com/office/drawing/2014/main" id="{B29B447B-9ED2-49CF-B627-E4E456EC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две оси XY · Z-ползун · yaw</a:t>
            </a:r>
          </a:p>
        </p:txBody>
      </p:sp>
      <p:sp>
        <p:nvSpPr>
          <p:cNvPr id="12" name="model-value-1">
            <a:extLst xmlns:a="http://schemas.openxmlformats.org/drawingml/2006/main">
              <a:ext uri="{FF2B5EF4-FFF2-40B4-BE49-F238E27FC236}">
                <a16:creationId xmlns:a16="http://schemas.microsoft.com/office/drawing/2014/main" id="{B00293BF-2B1A-4A61-80DE-1669FBEF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230 / 200 мм</a:t>
            </a:r>
          </a:p>
        </p:txBody>
      </p:sp>
      <p:sp>
        <p:nvSpPr>
          <p:cNvPr id="13" name="model-label-1">
            <a:extLst xmlns:a="http://schemas.openxmlformats.org/drawingml/2006/main">
              <a:ext uri="{FF2B5EF4-FFF2-40B4-BE49-F238E27FC236}">
                <a16:creationId xmlns:a16="http://schemas.microsoft.com/office/drawing/2014/main" id="{CA615BF8-FDAD-4579-9FF3-B78CB4DF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длины звеньев L1 / L2</a:t>
            </a:r>
          </a:p>
        </p:txBody>
      </p:sp>
      <p:sp>
        <p:nvSpPr>
          <p:cNvPr id="14" name="model-value-2">
            <a:extLst xmlns:a="http://schemas.openxmlformats.org/drawingml/2006/main">
              <a:ext uri="{FF2B5EF4-FFF2-40B4-BE49-F238E27FC236}">
                <a16:creationId xmlns:a16="http://schemas.microsoft.com/office/drawing/2014/main" id="{608302E0-6679-4E84-B04B-494F5851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+ 1 координата</a:t>
            </a:r>
          </a:p>
        </p:txBody>
      </p:sp>
      <p:sp>
        <p:nvSpPr>
          <p:cNvPr id="15" name="model-label-2">
            <a:extLst xmlns:a="http://schemas.openxmlformats.org/drawingml/2006/main">
              <a:ext uri="{FF2B5EF4-FFF2-40B4-BE49-F238E27FC236}">
                <a16:creationId xmlns:a16="http://schemas.microsoft.com/office/drawing/2014/main" id="{971348C2-2E82-4F1D-9137-D375E94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симметричный привод захвата</a:t>
            </a:r>
          </a:p>
        </p:txBody>
      </p:sp>
      <p:sp>
        <p:nvSpPr>
          <p:cNvPr id="16" name="model-value-3">
            <a:extLst xmlns:a="http://schemas.openxmlformats.org/drawingml/2006/main">
              <a:ext uri="{FF2B5EF4-FFF2-40B4-BE49-F238E27FC236}">
                <a16:creationId xmlns:a16="http://schemas.microsoft.com/office/drawing/2014/main" id="{BA4B1208-B0E8-49E0-924B-C8499711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14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28 × 28 × 16 мм</a:t>
            </a:r>
          </a:p>
        </p:txBody>
      </p:sp>
      <p:sp>
        <p:nvSpPr>
          <p:cNvPr id="17" name="model-label-3">
            <a:extLst xmlns:a="http://schemas.openxmlformats.org/drawingml/2006/main">
              <a:ext uri="{FF2B5EF4-FFF2-40B4-BE49-F238E27FC236}">
                <a16:creationId xmlns:a16="http://schemas.microsoft.com/office/drawing/2014/main" id="{05FA0DE8-5CE2-4710-9A19-B9E741A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габарит сортируемой детали</a:t>
            </a:r>
          </a:p>
        </p:txBody>
      </p:sp>
    </p:spTree>
    <p:extLst>
      <p:ext uri="{BB962C8B-B14F-4D97-AF65-F5344CB8AC3E}">
        <p14:creationId xmlns:p14="http://schemas.microsoft.com/office/powerpoint/2010/main" val="19249074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8429F-76EE-4A12-B308-EF708838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2650F75-6966-4A81-A8FE-0DE6729F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39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Кинематика связывает суставы с положением и yaw инструмента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1151B-335A-4FCD-9278-D471CA34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6-footer">
            <a:extLst xmlns:a="http://schemas.openxmlformats.org/drawingml/2006/main">
              <a:ext uri="{FF2B5EF4-FFF2-40B4-BE49-F238E27FC236}">
                <a16:creationId xmlns:a16="http://schemas.microsoft.com/office/drawing/2014/main" id="{2B1F24B9-15F7-4D74-93F5-3B5B6CA9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28E45D86-44C1-4466-A133-3E46D3B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kinematics-q">
            <a:extLst xmlns:a="http://schemas.openxmlformats.org/drawingml/2006/main">
              <a:ext uri="{FF2B5EF4-FFF2-40B4-BE49-F238E27FC236}">
                <a16:creationId xmlns:a16="http://schemas.microsoft.com/office/drawing/2014/main" id="{665ACCB5-1726-4ADE-BAAF-BAE8A44D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q = [ q₁, q₂, q₃, q₄ ]</a:t>
            </a:r>
          </a:p>
        </p:txBody>
      </p:sp>
      <p:sp>
        <p:nvSpPr>
          <p:cNvPr id="7" name="kinematics-types">
            <a:extLst xmlns:a="http://schemas.openxmlformats.org/drawingml/2006/main">
              <a:ext uri="{FF2B5EF4-FFF2-40B4-BE49-F238E27FC236}">
                <a16:creationId xmlns:a16="http://schemas.microsoft.com/office/drawing/2014/main" id="{B0D20F8F-201F-4AE4-9C0D-7F559FF6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906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R · R · P · 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EDBFA-2DE8-4282-BA3C-5D13C58B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kinematics-fk-formulas">
            <a:extLst xmlns:a="http://schemas.openxmlformats.org/drawingml/2006/main">
              <a:ext uri="{FF2B5EF4-FFF2-40B4-BE49-F238E27FC236}">
                <a16:creationId xmlns:a16="http://schemas.microsoft.com/office/drawing/2014/main" id="{53D83C10-9948-4916-B9AC-8492CB6B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1717"/>
                </a:solidFill>
                <a:latin typeface="Arial"/>
                <a:ea typeface="Arial"/>
                <a:cs typeface="Arial"/>
              </a:rPr>
              <a:t>x = x_b + L₁ cos q₁ + L₂ cos(q₁ + q₂)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1717"/>
                </a:solidFill>
                <a:latin typeface="Arial"/>
                <a:ea typeface="Arial"/>
                <a:cs typeface="Arial"/>
              </a:rPr>
              <a:t>y = y_b + L₁ sin q₁ + L₂ sin(q₁ + q₂)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1717"/>
                </a:solidFill>
                <a:latin typeface="Arial"/>
                <a:ea typeface="Arial"/>
                <a:cs typeface="Arial"/>
              </a:rPr>
              <a:t>z = z_b + 0,103 − q₃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1717"/>
                </a:solidFill>
                <a:latin typeface="Arial"/>
                <a:ea typeface="Arial"/>
                <a:cs typeface="Arial"/>
              </a:rPr>
              <a:t>ψ = wrap(q₁ + q₂ + q₄)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44AC1-926F-43BE-B96D-B7260C1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38400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kinematics-ik-label">
            <a:extLst xmlns:a="http://schemas.openxmlformats.org/drawingml/2006/main">
              <a:ext uri="{FF2B5EF4-FFF2-40B4-BE49-F238E27FC236}">
                <a16:creationId xmlns:a16="http://schemas.microsoft.com/office/drawing/2014/main" id="{7A38F5A2-18D6-4191-BE06-83568DC7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ОБРАТНАЯ КИНЕМАТИКА</a:t>
            </a:r>
          </a:p>
        </p:txBody>
      </p:sp>
      <p:sp>
        <p:nvSpPr>
          <p:cNvPr id="12" name="ik-num-0">
            <a:extLst xmlns:a="http://schemas.openxmlformats.org/drawingml/2006/main">
              <a:ext uri="{FF2B5EF4-FFF2-40B4-BE49-F238E27FC236}">
                <a16:creationId xmlns:a16="http://schemas.microsoft.com/office/drawing/2014/main" id="{A2624280-FBC7-4E09-9D79-F8DC3576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575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3" name="ik-step-0">
            <a:extLst xmlns:a="http://schemas.openxmlformats.org/drawingml/2006/main">
              <a:ext uri="{FF2B5EF4-FFF2-40B4-BE49-F238E27FC236}">
                <a16:creationId xmlns:a16="http://schemas.microsoft.com/office/drawing/2014/main" id="{E7835BB7-C674-4920-9333-17AE58B4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5752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2 ветви решения локтя</a:t>
            </a:r>
          </a:p>
        </p:txBody>
      </p:sp>
      <p:sp>
        <p:nvSpPr>
          <p:cNvPr id="14" name="ik-num-1">
            <a:extLst xmlns:a="http://schemas.openxmlformats.org/drawingml/2006/main">
              <a:ext uri="{FF2B5EF4-FFF2-40B4-BE49-F238E27FC236}">
                <a16:creationId xmlns:a16="http://schemas.microsoft.com/office/drawing/2014/main" id="{77C4AE9B-2165-413F-BE32-E2CDF64C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99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5" name="ik-step-1">
            <a:extLst xmlns:a="http://schemas.openxmlformats.org/drawingml/2006/main">
              <a:ext uri="{FF2B5EF4-FFF2-40B4-BE49-F238E27FC236}">
                <a16:creationId xmlns:a16="http://schemas.microsoft.com/office/drawing/2014/main" id="{C3D17B94-1AA5-45E8-880A-FDEB9154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997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отсев по лимитам суставов</a:t>
            </a:r>
          </a:p>
        </p:txBody>
      </p:sp>
      <p:sp>
        <p:nvSpPr>
          <p:cNvPr id="16" name="ik-num-2">
            <a:extLst xmlns:a="http://schemas.openxmlformats.org/drawingml/2006/main">
              <a:ext uri="{FF2B5EF4-FFF2-40B4-BE49-F238E27FC236}">
                <a16:creationId xmlns:a16="http://schemas.microsoft.com/office/drawing/2014/main" id="{4BE76099-F40B-4063-806F-474DB233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624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7" name="ik-step-2">
            <a:extLst xmlns:a="http://schemas.openxmlformats.org/drawingml/2006/main">
              <a:ext uri="{FF2B5EF4-FFF2-40B4-BE49-F238E27FC236}">
                <a16:creationId xmlns:a16="http://schemas.microsoft.com/office/drawing/2014/main" id="{3081B3B3-86AE-4E7B-B29D-EAE72864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6242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контроль остатка независимым FK</a:t>
            </a:r>
          </a:p>
        </p:txBody>
      </p:sp>
      <p:sp>
        <p:nvSpPr>
          <p:cNvPr id="18" name="kinematics-links">
            <a:extLst xmlns:a="http://schemas.openxmlformats.org/drawingml/2006/main">
              <a:ext uri="{FF2B5EF4-FFF2-40B4-BE49-F238E27FC236}">
                <a16:creationId xmlns:a16="http://schemas.microsoft.com/office/drawing/2014/main" id="{B3FB7865-FDA9-4E19-BE13-B2997370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L₁ = 0,230 м · L₂ = 0,200 м</a:t>
            </a:r>
          </a:p>
        </p:txBody>
      </p:sp>
    </p:spTree>
    <p:extLst>
      <p:ext uri="{BB962C8B-B14F-4D97-AF65-F5344CB8AC3E}">
        <p14:creationId xmlns:p14="http://schemas.microsoft.com/office/powerpoint/2010/main" val="753126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AEC19-AE8A-4B2D-868B-8D96012B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4DE9C6D7-8AA9-4856-ABC4-BADD1736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08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Цвет и положение оцениваются по публичному RGB-кадру</a:t>
            </a:r>
          </a:p>
        </p:txBody>
      </p:sp>
      <p:sp>
        <p:nvSpPr>
          <p:cNvPr id="3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2F778290-C780-4205-8539-1D0F0F9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85C"/>
                </a:solidFill>
                <a:latin typeface="Arial"/>
                <a:ea typeface="Arial"/>
                <a:cs typeface="Arial"/>
              </a:rPr>
              <a:t>Классификатор использует изображение; истинная метка остается только у evaluator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35A8A-A54B-4125-90F2-E2913FD4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7-footer">
            <a:extLst xmlns:a="http://schemas.openxmlformats.org/drawingml/2006/main">
              <a:ext uri="{FF2B5EF4-FFF2-40B4-BE49-F238E27FC236}">
                <a16:creationId xmlns:a16="http://schemas.microsoft.com/office/drawing/2014/main" id="{BB0E3547-73FF-4EBC-B5E4-5655226E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6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D122533A-AA62-48DB-93E2-B76783F2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e0dc047024339"/>
          <a:stretch xmlns:a="http://schemas.openxmlformats.org/drawingml/2006/main"/>
        </p:blipFill>
        <p:spPr>
          <a:xfrm xmlns:a="http://schemas.openxmlformats.org/drawingml/2006/main">
            <a:off x="685800" y="1658541"/>
            <a:ext cx="6819900" cy="3836194"/>
          </a:xfrm>
          <a:prstGeom xmlns:a="http://schemas.openxmlformats.org/drawingml/2006/main" prst="rect">
            <a:avLst/>
          </a:prstGeom>
        </p:spPr>
      </p:pic>
      <p:sp>
        <p:nvSpPr>
          <p:cNvPr id="8" name="perception-label">
            <a:extLst xmlns:a="http://schemas.openxmlformats.org/drawingml/2006/main">
              <a:ext uri="{FF2B5EF4-FFF2-40B4-BE49-F238E27FC236}">
                <a16:creationId xmlns:a16="http://schemas.microsoft.com/office/drawing/2014/main" id="{6BD7EC39-767F-47AF-AC2F-07F2E8BB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781175"/>
            <a:ext cx="3362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V03 · ПЕРВЫЕ RGB-КАДРЫ</a:t>
            </a:r>
          </a:p>
        </p:txBody>
      </p:sp>
      <p:sp>
        <p:nvSpPr>
          <p:cNvPr id="9" name="perception-classes">
            <a:extLst xmlns:a="http://schemas.openxmlformats.org/drawingml/2006/main">
              <a:ext uri="{FF2B5EF4-FFF2-40B4-BE49-F238E27FC236}">
                <a16:creationId xmlns:a16="http://schemas.microsoft.com/office/drawing/2014/main" id="{C2E70B20-B668-4DD7-80C7-458B394B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52650"/>
            <a:ext cx="3362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90 / 90</a:t>
            </a:r>
          </a:p>
        </p:txBody>
      </p:sp>
      <p:sp>
        <p:nvSpPr>
          <p:cNvPr id="10" name="perception-class-label">
            <a:extLst xmlns:a="http://schemas.openxmlformats.org/drawingml/2006/main">
              <a:ext uri="{FF2B5EF4-FFF2-40B4-BE49-F238E27FC236}">
                <a16:creationId xmlns:a16="http://schemas.microsoft.com/office/drawing/2014/main" id="{36AE0B99-C1C1-4D89-A715-7C2B4B8C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38450"/>
            <a:ext cx="3362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85C"/>
                </a:solidFill>
                <a:latin typeface="Arial"/>
                <a:ea typeface="Arial"/>
                <a:cs typeface="Arial"/>
              </a:rPr>
              <a:t>правильных цветовых классификаций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4371E-61BF-495B-B116-4F93357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671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erception-xy">
            <a:extLst xmlns:a="http://schemas.openxmlformats.org/drawingml/2006/main">
              <a:ext uri="{FF2B5EF4-FFF2-40B4-BE49-F238E27FC236}">
                <a16:creationId xmlns:a16="http://schemas.microsoft.com/office/drawing/2014/main" id="{CFF7821B-68B9-4439-ADF4-9C50E7B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67125"/>
            <a:ext cx="3362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0,415 мм</a:t>
            </a:r>
          </a:p>
        </p:txBody>
      </p:sp>
      <p:sp>
        <p:nvSpPr>
          <p:cNvPr id="13" name="perception-xy-label">
            <a:extLst xmlns:a="http://schemas.openxmlformats.org/drawingml/2006/main">
              <a:ext uri="{FF2B5EF4-FFF2-40B4-BE49-F238E27FC236}">
                <a16:creationId xmlns:a16="http://schemas.microsoft.com/office/drawing/2014/main" id="{775EC5D2-7F96-47D9-8208-066AC1C4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133850"/>
            <a:ext cx="3362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средняя ошибка XY на той же выборке</a:t>
            </a:r>
          </a:p>
        </p:txBody>
      </p:sp>
      <p:sp>
        <p:nvSpPr>
          <p:cNvPr id="14" name="perception-caveat">
            <a:extLst xmlns:a="http://schemas.openxmlformats.org/drawingml/2006/main">
              <a:ext uri="{FF2B5EF4-FFF2-40B4-BE49-F238E27FC236}">
                <a16:creationId xmlns:a16="http://schemas.microsoft.com/office/drawing/2014/main" id="{E459AB66-AEBA-4582-B54B-F9908418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57750"/>
            <a:ext cx="3362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Показатель относится к 90 объектам V03 при заданной палитре и условиях; это не оценка реальной камеры.</a:t>
            </a:r>
          </a:p>
        </p:txBody>
      </p:sp>
    </p:spTree>
    <p:extLst>
      <p:ext uri="{BB962C8B-B14F-4D97-AF65-F5344CB8AC3E}">
        <p14:creationId xmlns:p14="http://schemas.microsoft.com/office/powerpoint/2010/main" val="1835791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6AC7D-6078-4AD0-8E6E-9F101DAD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0C69196-5665-4151-BDC6-34C5F0C9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2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Планировщик проверяет весь путь до выдачи команд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55C7C-71EE-44C6-A8B9-898FFE51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8-footer">
            <a:extLst xmlns:a="http://schemas.openxmlformats.org/drawingml/2006/main">
              <a:ext uri="{FF2B5EF4-FFF2-40B4-BE49-F238E27FC236}">
                <a16:creationId xmlns:a16="http://schemas.microsoft.com/office/drawing/2014/main" id="{492D9AE5-84C6-46D4-ADFA-86E52389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76A8E09E-9A53-411B-A3E7-0A02A578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42014f4654255"/>
          <a:stretch xmlns:a="http://schemas.openxmlformats.org/drawingml/2006/main"/>
        </p:blipFill>
        <p:spPr>
          <a:xfrm xmlns:a="http://schemas.openxmlformats.org/drawingml/2006/main">
            <a:off x="752475" y="1571625"/>
            <a:ext cx="5734050" cy="4505325"/>
          </a:xfrm>
          <a:prstGeom xmlns:a="http://schemas.openxmlformats.org/drawingml/2006/main" prst="rect">
            <a:avLst/>
          </a:prstGeom>
        </p:spPr>
      </p:pic>
      <p:sp>
        <p:nvSpPr>
          <p:cNvPr id="7" name="planner-label">
            <a:extLst xmlns:a="http://schemas.openxmlformats.org/drawingml/2006/main">
              <a:ext uri="{FF2B5EF4-FFF2-40B4-BE49-F238E27FC236}">
                <a16:creationId xmlns:a16="http://schemas.microsoft.com/office/drawing/2014/main" id="{E7FAB45E-501C-42CD-BFA2-51A7A9D3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57350"/>
            <a:ext cx="423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ПОЛНЫЙ ПРЕДВАРИТЕЛЬНЫЙ КОНТРОЛЬ</a:t>
            </a:r>
          </a:p>
        </p:txBody>
      </p:sp>
      <p:sp>
        <p:nvSpPr>
          <p:cNvPr id="8" name="planner-0-num">
            <a:extLst xmlns:a="http://schemas.openxmlformats.org/drawingml/2006/main">
              <a:ext uri="{FF2B5EF4-FFF2-40B4-BE49-F238E27FC236}">
                <a16:creationId xmlns:a16="http://schemas.microsoft.com/office/drawing/2014/main" id="{92614C9B-6FF9-4CCD-8E2A-4171828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409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lanner-0-head">
            <a:extLst xmlns:a="http://schemas.openxmlformats.org/drawingml/2006/main">
              <a:ext uri="{FF2B5EF4-FFF2-40B4-BE49-F238E27FC236}">
                <a16:creationId xmlns:a16="http://schemas.microsoft.com/office/drawing/2014/main" id="{AAE47B28-12AE-4AB8-924D-30BE3166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10" name="planner-0-body">
            <a:extLst xmlns:a="http://schemas.openxmlformats.org/drawingml/2006/main">
              <a:ext uri="{FF2B5EF4-FFF2-40B4-BE49-F238E27FC236}">
                <a16:creationId xmlns:a16="http://schemas.microsoft.com/office/drawing/2014/main" id="{C312CCDB-545D-40AA-B2FC-B35E699E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66975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позиция и ориентация TCP</a:t>
            </a:r>
          </a:p>
        </p:txBody>
      </p:sp>
      <p:sp>
        <p:nvSpPr>
          <p:cNvPr id="11" name="planner-1-num">
            <a:extLst xmlns:a="http://schemas.openxmlformats.org/drawingml/2006/main">
              <a:ext uri="{FF2B5EF4-FFF2-40B4-BE49-F238E27FC236}">
                <a16:creationId xmlns:a16="http://schemas.microsoft.com/office/drawing/2014/main" id="{3D351820-E3AA-4C1E-803A-9D06D628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76550"/>
            <a:ext cx="409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planner-1-head">
            <a:extLst xmlns:a="http://schemas.openxmlformats.org/drawingml/2006/main">
              <a:ext uri="{FF2B5EF4-FFF2-40B4-BE49-F238E27FC236}">
                <a16:creationId xmlns:a16="http://schemas.microsoft.com/office/drawing/2014/main" id="{E41A03E2-012D-446F-AD9A-6E388C83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765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IK</a:t>
            </a:r>
          </a:p>
        </p:txBody>
      </p:sp>
      <p:sp>
        <p:nvSpPr>
          <p:cNvPr id="13" name="planner-1-body">
            <a:extLst xmlns:a="http://schemas.openxmlformats.org/drawingml/2006/main">
              <a:ext uri="{FF2B5EF4-FFF2-40B4-BE49-F238E27FC236}">
                <a16:creationId xmlns:a16="http://schemas.microsoft.com/office/drawing/2014/main" id="{7C4CD0C3-7A2C-456C-AECD-68ED25DB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04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допустимые ветви и лимиты</a:t>
            </a:r>
          </a:p>
        </p:txBody>
      </p:sp>
      <p:sp>
        <p:nvSpPr>
          <p:cNvPr id="14" name="planner-2-num">
            <a:extLst xmlns:a="http://schemas.openxmlformats.org/drawingml/2006/main">
              <a:ext uri="{FF2B5EF4-FFF2-40B4-BE49-F238E27FC236}">
                <a16:creationId xmlns:a16="http://schemas.microsoft.com/office/drawing/2014/main" id="{F13C84BF-AA29-4138-B0E6-377F1809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9975"/>
            <a:ext cx="409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planner-2-head">
            <a:extLst xmlns:a="http://schemas.openxmlformats.org/drawingml/2006/main">
              <a:ext uri="{FF2B5EF4-FFF2-40B4-BE49-F238E27FC236}">
                <a16:creationId xmlns:a16="http://schemas.microsoft.com/office/drawing/2014/main" id="{D8F3AB3E-34A1-4563-B34B-FF825FE0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0997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Траектория</a:t>
            </a:r>
          </a:p>
        </p:txBody>
      </p:sp>
      <p:sp>
        <p:nvSpPr>
          <p:cNvPr id="16" name="planner-2-body">
            <a:extLst xmlns:a="http://schemas.openxmlformats.org/drawingml/2006/main">
              <a:ext uri="{FF2B5EF4-FFF2-40B4-BE49-F238E27FC236}">
                <a16:creationId xmlns:a16="http://schemas.microsoft.com/office/drawing/2014/main" id="{E23AB109-8C39-4BCD-B31F-096B9D8C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плавные суставные профили</a:t>
            </a:r>
          </a:p>
        </p:txBody>
      </p:sp>
      <p:sp>
        <p:nvSpPr>
          <p:cNvPr id="17" name="planner-3-num">
            <a:extLst xmlns:a="http://schemas.openxmlformats.org/drawingml/2006/main">
              <a:ext uri="{FF2B5EF4-FFF2-40B4-BE49-F238E27FC236}">
                <a16:creationId xmlns:a16="http://schemas.microsoft.com/office/drawing/2014/main" id="{438DA554-A4C8-4137-98DE-798C1781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43400"/>
            <a:ext cx="409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planner-3-head">
            <a:extLst xmlns:a="http://schemas.openxmlformats.org/drawingml/2006/main">
              <a:ext uri="{FF2B5EF4-FFF2-40B4-BE49-F238E27FC236}">
                <a16:creationId xmlns:a16="http://schemas.microsoft.com/office/drawing/2014/main" id="{5F26C6D2-4C94-46F9-8E1B-EC1EBC6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434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Коллизии</a:t>
            </a:r>
          </a:p>
        </p:txBody>
      </p:sp>
      <p:sp>
        <p:nvSpPr>
          <p:cNvPr id="19" name="planner-3-body">
            <a:extLst xmlns:a="http://schemas.openxmlformats.org/drawingml/2006/main">
              <a:ext uri="{FF2B5EF4-FFF2-40B4-BE49-F238E27FC236}">
                <a16:creationId xmlns:a16="http://schemas.microsoft.com/office/drawing/2014/main" id="{64F1A866-F912-42FE-81EF-2901B071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672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звенья, пальцы и переносимый объект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50931-FFE7-45EF-B2FB-5CF38094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0065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lanner-refusal">
            <a:extLst xmlns:a="http://schemas.openxmlformats.org/drawingml/2006/main">
              <a:ext uri="{FF2B5EF4-FFF2-40B4-BE49-F238E27FC236}">
                <a16:creationId xmlns:a16="http://schemas.microsoft.com/office/drawing/2014/main" id="{436DDFBA-A517-425F-8CB4-F5A7F68A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24475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Если безопасный путь не найден, движение по этому плану не начинается.</a:t>
            </a:r>
          </a:p>
        </p:txBody>
      </p:sp>
    </p:spTree>
    <p:extLst>
      <p:ext uri="{BB962C8B-B14F-4D97-AF65-F5344CB8AC3E}">
        <p14:creationId xmlns:p14="http://schemas.microsoft.com/office/powerpoint/2010/main" val="1455116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81957C-8180-4E0D-A6EC-8BE51F4F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33DF8816-8688-42F6-862C-7720565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44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FSM связывает наблюдение, захват и проверку укладки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9FF9A-F092-4726-95C3-82E670F7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9-footer">
            <a:extLst xmlns:a="http://schemas.openxmlformats.org/drawingml/2006/main">
              <a:ext uri="{FF2B5EF4-FFF2-40B4-BE49-F238E27FC236}">
                <a16:creationId xmlns:a16="http://schemas.microsoft.com/office/drawing/2014/main" id="{156194E4-3F42-429F-9563-DECE9C78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8EAB07B4-3D58-41D7-90A7-9A4A3DB1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fsm-kicker">
            <a:extLst xmlns:a="http://schemas.openxmlformats.org/drawingml/2006/main">
              <a:ext uri="{FF2B5EF4-FFF2-40B4-BE49-F238E27FC236}">
                <a16:creationId xmlns:a16="http://schemas.microsoft.com/office/drawing/2014/main" id="{49BC6462-C447-4B0A-AC0B-32D1EE8B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ОСНОВНОЙ ЦИКЛ · UML state abstraction</a:t>
            </a:r>
          </a:p>
        </p:txBody>
      </p:sp>
      <p:sp>
        <p:nvSpPr>
          <p:cNvPr id="7" name="fsm-state-0">
            <a:extLst xmlns:a="http://schemas.openxmlformats.org/drawingml/2006/main">
              <a:ext uri="{FF2B5EF4-FFF2-40B4-BE49-F238E27FC236}">
                <a16:creationId xmlns:a16="http://schemas.microsoft.com/office/drawing/2014/main" id="{9EF7A812-063A-42AD-A14B-8663D838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19325"/>
            <a:ext cx="15049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8" name="fsm-state-0-heading">
            <a:extLst xmlns:a="http://schemas.openxmlformats.org/drawingml/2006/main">
              <a:ext uri="{FF2B5EF4-FFF2-40B4-BE49-F238E27FC236}">
                <a16:creationId xmlns:a16="http://schemas.microsoft.com/office/drawing/2014/main" id="{11939CCC-A381-4A6E-9F18-C84432E1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9" name="fsm-state-0-body">
            <a:extLst xmlns:a="http://schemas.openxmlformats.org/drawingml/2006/main">
              <a:ext uri="{FF2B5EF4-FFF2-40B4-BE49-F238E27FC236}">
                <a16:creationId xmlns:a16="http://schemas.microsoft.com/office/drawing/2014/main" id="{CEE0D1CE-DD90-4BBE-A889-DB3C4811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7177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85C"/>
                </a:solidFill>
                <a:latin typeface="Arial"/>
                <a:ea typeface="Arial"/>
                <a:cs typeface="Arial"/>
              </a:rPr>
              <a:t>свежий кадр</a:t>
            </a:r>
          </a:p>
        </p:txBody>
      </p:sp>
      <p:sp>
        <p:nvSpPr>
          <p:cNvPr id="10" name="fsm-state-1">
            <a:extLst xmlns:a="http://schemas.openxmlformats.org/drawingml/2006/main">
              <a:ext uri="{FF2B5EF4-FFF2-40B4-BE49-F238E27FC236}">
                <a16:creationId xmlns:a16="http://schemas.microsoft.com/office/drawing/2014/main" id="{9EF1ADD0-BEF8-4424-B3BD-ADDE708F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19325"/>
            <a:ext cx="15049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1" name="fsm-state-1-heading">
            <a:extLst xmlns:a="http://schemas.openxmlformats.org/drawingml/2006/main">
              <a:ext uri="{FF2B5EF4-FFF2-40B4-BE49-F238E27FC236}">
                <a16:creationId xmlns:a16="http://schemas.microsoft.com/office/drawing/2014/main" id="{83AAE509-C3A6-49DA-9868-3F96E048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526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SELECT / PLAN</a:t>
            </a:r>
          </a:p>
        </p:txBody>
      </p:sp>
      <p:sp>
        <p:nvSpPr>
          <p:cNvPr id="12" name="fsm-state-1-body">
            <a:extLst xmlns:a="http://schemas.openxmlformats.org/drawingml/2006/main">
              <a:ext uri="{FF2B5EF4-FFF2-40B4-BE49-F238E27FC236}">
                <a16:creationId xmlns:a16="http://schemas.microsoft.com/office/drawing/2014/main" id="{B45DA656-4723-4F7B-8773-C18BE559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7177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85C"/>
                </a:solidFill>
                <a:latin typeface="Arial"/>
                <a:ea typeface="Arial"/>
                <a:cs typeface="Arial"/>
              </a:rPr>
              <a:t>цель и слот</a:t>
            </a:r>
          </a:p>
        </p:txBody>
      </p:sp>
      <p:sp>
        <p:nvSpPr>
          <p:cNvPr id="13" name="fsm-state-2">
            <a:extLst xmlns:a="http://schemas.openxmlformats.org/drawingml/2006/main">
              <a:ext uri="{FF2B5EF4-FFF2-40B4-BE49-F238E27FC236}">
                <a16:creationId xmlns:a16="http://schemas.microsoft.com/office/drawing/2014/main" id="{67720134-A8EA-454A-B1DB-B40F5ABD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19325"/>
            <a:ext cx="15049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4" name="fsm-state-2-heading">
            <a:extLst xmlns:a="http://schemas.openxmlformats.org/drawingml/2006/main">
              <a:ext uri="{FF2B5EF4-FFF2-40B4-BE49-F238E27FC236}">
                <a16:creationId xmlns:a16="http://schemas.microsoft.com/office/drawing/2014/main" id="{0E83599D-F1CA-4E94-8DD1-3EE1D0DB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526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APPROACH /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GRASP</a:t>
            </a:r>
          </a:p>
        </p:txBody>
      </p:sp>
      <p:sp>
        <p:nvSpPr>
          <p:cNvPr id="15" name="fsm-state-2-body">
            <a:extLst xmlns:a="http://schemas.openxmlformats.org/drawingml/2006/main">
              <a:ext uri="{FF2B5EF4-FFF2-40B4-BE49-F238E27FC236}">
                <a16:creationId xmlns:a16="http://schemas.microsoft.com/office/drawing/2014/main" id="{19881347-4ADE-4B26-AB19-620B330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85C"/>
                </a:solidFill>
                <a:latin typeface="Arial"/>
                <a:ea typeface="Arial"/>
                <a:cs typeface="Arial"/>
              </a:rPr>
              <a:t>контакт</a:t>
            </a:r>
          </a:p>
        </p:txBody>
      </p:sp>
      <p:sp>
        <p:nvSpPr>
          <p:cNvPr id="16" name="fsm-state-3">
            <a:extLst xmlns:a="http://schemas.openxmlformats.org/drawingml/2006/main">
              <a:ext uri="{FF2B5EF4-FFF2-40B4-BE49-F238E27FC236}">
                <a16:creationId xmlns:a16="http://schemas.microsoft.com/office/drawing/2014/main" id="{4B64B6D0-D736-4B9F-8FC3-B95244C0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19325"/>
            <a:ext cx="15049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17" name="fsm-state-3-heading">
            <a:extLst xmlns:a="http://schemas.openxmlformats.org/drawingml/2006/main">
              <a:ext uri="{FF2B5EF4-FFF2-40B4-BE49-F238E27FC236}">
                <a16:creationId xmlns:a16="http://schemas.microsoft.com/office/drawing/2014/main" id="{E91D7D4A-F2BA-4687-AC1F-02320BDE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526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VERIFY_HOLD</a:t>
            </a:r>
          </a:p>
        </p:txBody>
      </p:sp>
      <p:sp>
        <p:nvSpPr>
          <p:cNvPr id="18" name="fsm-state-3-body">
            <a:extLst xmlns:a="http://schemas.openxmlformats.org/drawingml/2006/main">
              <a:ext uri="{FF2B5EF4-FFF2-40B4-BE49-F238E27FC236}">
                <a16:creationId xmlns:a16="http://schemas.microsoft.com/office/drawing/2014/main" id="{4B56F718-2AB6-46FF-8E10-66BE1736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7177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85C"/>
                </a:solidFill>
                <a:latin typeface="Arial"/>
                <a:ea typeface="Arial"/>
                <a:cs typeface="Arial"/>
              </a:rPr>
              <a:t>проверка удержания</a:t>
            </a:r>
          </a:p>
        </p:txBody>
      </p:sp>
      <p:sp>
        <p:nvSpPr>
          <p:cNvPr id="19" name="fsm-state-4">
            <a:extLst xmlns:a="http://schemas.openxmlformats.org/drawingml/2006/main">
              <a:ext uri="{FF2B5EF4-FFF2-40B4-BE49-F238E27FC236}">
                <a16:creationId xmlns:a16="http://schemas.microsoft.com/office/drawing/2014/main" id="{33D8CCDA-7085-47FD-B39B-5363A884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19325"/>
            <a:ext cx="15049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0" name="fsm-state-4-heading">
            <a:extLst xmlns:a="http://schemas.openxmlformats.org/drawingml/2006/main">
              <a:ext uri="{FF2B5EF4-FFF2-40B4-BE49-F238E27FC236}">
                <a16:creationId xmlns:a16="http://schemas.microsoft.com/office/drawing/2014/main" id="{7FBD02CF-09B6-47B0-838D-B14525A1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526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TRANSFER /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21" name="fsm-state-4-body">
            <a:extLst xmlns:a="http://schemas.openxmlformats.org/drawingml/2006/main">
              <a:ext uri="{FF2B5EF4-FFF2-40B4-BE49-F238E27FC236}">
                <a16:creationId xmlns:a16="http://schemas.microsoft.com/office/drawing/2014/main" id="{79767EA4-95E4-4FB0-BE1E-5A1F6130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85C"/>
                </a:solidFill>
                <a:latin typeface="Arial"/>
                <a:ea typeface="Arial"/>
                <a:cs typeface="Arial"/>
              </a:rPr>
              <a:t>перенос и отпускание</a:t>
            </a:r>
          </a:p>
        </p:txBody>
      </p:sp>
      <p:sp>
        <p:nvSpPr>
          <p:cNvPr id="22" name="fsm-state-5">
            <a:extLst xmlns:a="http://schemas.openxmlformats.org/drawingml/2006/main">
              <a:ext uri="{FF2B5EF4-FFF2-40B4-BE49-F238E27FC236}">
                <a16:creationId xmlns:a16="http://schemas.microsoft.com/office/drawing/2014/main" id="{3296415A-5DA0-4593-B8EE-1D976CA6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19325"/>
            <a:ext cx="15049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1717"/>
            </a:solidFill>
            <a:prstDash val="solid"/>
          </a:ln>
        </p:spPr>
      </p:sp>
      <p:sp>
        <p:nvSpPr>
          <p:cNvPr id="23" name="fsm-state-5-heading">
            <a:extLst xmlns:a="http://schemas.openxmlformats.org/drawingml/2006/main">
              <a:ext uri="{FF2B5EF4-FFF2-40B4-BE49-F238E27FC236}">
                <a16:creationId xmlns:a16="http://schemas.microsoft.com/office/drawing/2014/main" id="{6FAB0E35-D6D6-4BB4-8787-8C3AA8E3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526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VERIFY_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24" name="fsm-state-5-body">
            <a:extLst xmlns:a="http://schemas.openxmlformats.org/drawingml/2006/main">
              <a:ext uri="{FF2B5EF4-FFF2-40B4-BE49-F238E27FC236}">
                <a16:creationId xmlns:a16="http://schemas.microsoft.com/office/drawing/2014/main" id="{0C9E480C-FC8E-4F43-89E2-D5DE0C15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7177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85C"/>
                </a:solidFill>
                <a:latin typeface="Arial"/>
                <a:ea typeface="Arial"/>
                <a:cs typeface="Arial"/>
              </a:rPr>
              <a:t>свежая RGB-проверка</a:t>
            </a:r>
          </a:p>
        </p:txBody>
      </p:sp>
      <p:sp>
        <p:nvSpPr>
          <p:cNvPr id="25" name="fsm-initial">
            <a:extLst xmlns:a="http://schemas.openxmlformats.org/drawingml/2006/main">
              <a:ext uri="{FF2B5EF4-FFF2-40B4-BE49-F238E27FC236}">
                <a16:creationId xmlns:a16="http://schemas.microsoft.com/office/drawing/2014/main" id="{38A2A25A-CCDC-420F-94AA-F21177FA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38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cxnSp>
        <p:nvCxnSpPr>
          <p:cNvPr id="69" name=""/>
          <p:cNvCxnSpPr>
            <a:stCxn xmlns:a="http://schemas.openxmlformats.org/drawingml/2006/main" id="25" idx="6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8675" y="2714625"/>
            <a:ext cx="571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90775" y="27193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200525" y="27193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010275" y="27193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20025" y="27193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629775" y="2719388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22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1638300" y="3219450"/>
            <a:ext cx="9048750" cy="2286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arrow" w="sm" len="sm"/>
          </a:ln>
        </p:spPr>
      </p:cxnSp>
      <p:sp>
        <p:nvSpPr>
          <p:cNvPr id="33" name="fsm-loop-label">
            <a:extLst xmlns:a="http://schemas.openxmlformats.org/drawingml/2006/main">
              <a:ext uri="{FF2B5EF4-FFF2-40B4-BE49-F238E27FC236}">
                <a16:creationId xmlns:a16="http://schemas.microsoft.com/office/drawing/2014/main" id="{7EBF1719-4C25-476B-9FED-F50AD9DB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585C"/>
                </a:solidFill>
                <a:latin typeface="Arial"/>
                <a:ea typeface="Arial"/>
                <a:cs typeface="Arial"/>
              </a:rPr>
              <a:t>новый кадр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C00A41-C22D-4958-9403-120E379B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sm-errors-label">
            <a:extLst xmlns:a="http://schemas.openxmlformats.org/drawingml/2006/main">
              <a:ext uri="{FF2B5EF4-FFF2-40B4-BE49-F238E27FC236}">
                <a16:creationId xmlns:a16="http://schemas.microsoft.com/office/drawing/2014/main" id="{62A42D8F-0545-4432-B0BF-7BA8B337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БЕЗОПАСНЫЕ ВЕТВИ</a:t>
            </a:r>
          </a:p>
        </p:txBody>
      </p:sp>
      <p:sp>
        <p:nvSpPr>
          <p:cNvPr id="36" name="fsm-failure-0-head">
            <a:extLst xmlns:a="http://schemas.openxmlformats.org/drawingml/2006/main">
              <a:ext uri="{FF2B5EF4-FFF2-40B4-BE49-F238E27FC236}">
                <a16:creationId xmlns:a16="http://schemas.microsoft.com/office/drawing/2014/main" id="{79215867-2166-46B7-9955-A404FAE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UNKNOWN / недоступен</a:t>
            </a:r>
          </a:p>
        </p:txBody>
      </p:sp>
      <p:sp>
        <p:nvSpPr>
          <p:cNvPr id="37" name="fsm-failure-0-body">
            <a:extLst xmlns:a="http://schemas.openxmlformats.org/drawingml/2006/main">
              <a:ext uri="{FF2B5EF4-FFF2-40B4-BE49-F238E27FC236}">
                <a16:creationId xmlns:a16="http://schemas.microsoft.com/office/drawing/2014/main" id="{619671BC-FB34-4415-88A0-A784D983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пропуск с причиной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50656D-8B69-40DD-A9EA-AB8ED91C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781550"/>
            <a:ext cx="95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sm-failure-1-head">
            <a:extLst xmlns:a="http://schemas.openxmlformats.org/drawingml/2006/main">
              <a:ext uri="{FF2B5EF4-FFF2-40B4-BE49-F238E27FC236}">
                <a16:creationId xmlns:a16="http://schemas.microsoft.com/office/drawing/2014/main" id="{BA270803-66DF-48F2-89EF-F794CEB5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196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камера / удержание</a:t>
            </a:r>
          </a:p>
        </p:txBody>
      </p:sp>
      <p:sp>
        <p:nvSpPr>
          <p:cNvPr id="40" name="fsm-failure-1-body">
            <a:extLst xmlns:a="http://schemas.openxmlformats.org/drawingml/2006/main">
              <a:ext uri="{FF2B5EF4-FFF2-40B4-BE49-F238E27FC236}">
                <a16:creationId xmlns:a16="http://schemas.microsoft.com/office/drawing/2014/main" id="{DEB9690B-DDAB-442C-904B-ED10AFFD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8160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ограниченный recovery или SAFE_STOP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2CAE4C-A0DF-41DB-A682-F6E243A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81550"/>
            <a:ext cx="95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sm-failure-2-head">
            <a:extLst xmlns:a="http://schemas.openxmlformats.org/drawingml/2006/main">
              <a:ext uri="{FF2B5EF4-FFF2-40B4-BE49-F238E27FC236}">
                <a16:creationId xmlns:a16="http://schemas.microsoft.com/office/drawing/2014/main" id="{9E29AE2B-D1F8-4594-8682-4D57A7AC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укладка не подтверждена</a:t>
            </a:r>
          </a:p>
        </p:txBody>
      </p:sp>
      <p:sp>
        <p:nvSpPr>
          <p:cNvPr id="43" name="fsm-failure-2-body">
            <a:extLst xmlns:a="http://schemas.openxmlformats.org/drawingml/2006/main">
              <a:ext uri="{FF2B5EF4-FFF2-40B4-BE49-F238E27FC236}">
                <a16:creationId xmlns:a16="http://schemas.microsoft.com/office/drawing/2014/main" id="{8D1C602C-03E1-4F9E-95D2-B69A5427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8160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слот в карантин · без ложного успеха</a:t>
            </a:r>
          </a:p>
        </p:txBody>
      </p:sp>
    </p:spTree>
    <p:extLst>
      <p:ext uri="{BB962C8B-B14F-4D97-AF65-F5344CB8AC3E}">
        <p14:creationId xmlns:p14="http://schemas.microsoft.com/office/powerpoint/2010/main" val="1773619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2C8A9-58FA-4AF8-A6AC-804E5166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F4C58EA6-7C7C-48F7-926E-CA89F3C0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53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Контактный цикл проверяет захват, перенос и отпускание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1A82C-AA71-40AD-A4F0-8FA7A899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10-footer">
            <a:extLst xmlns:a="http://schemas.openxmlformats.org/drawingml/2006/main">
              <a:ext uri="{FF2B5EF4-FFF2-40B4-BE49-F238E27FC236}">
                <a16:creationId xmlns:a16="http://schemas.microsoft.com/office/drawing/2014/main" id="{ABD38D1C-811B-4ED2-8A1C-44AB117B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455B0C96-11B9-46CA-9CAD-3E276858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cd2a4c4e84f3e"/>
          <a:stretch xmlns:a="http://schemas.openxmlformats.org/drawingml/2006/main"/>
        </p:blipFill>
        <p:spPr>
          <a:xfrm xmlns:a="http://schemas.openxmlformats.org/drawingml/2006/main">
            <a:off x="781050" y="1707356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7" name="cycle-frame-label-0">
            <a:extLst xmlns:a="http://schemas.openxmlformats.org/drawingml/2006/main">
              <a:ext uri="{FF2B5EF4-FFF2-40B4-BE49-F238E27FC236}">
                <a16:creationId xmlns:a16="http://schemas.microsoft.com/office/drawing/2014/main" id="{3D4778CB-3421-426C-A150-E4E2583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Захват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28f143c5d4205"/>
          <a:stretch xmlns:a="http://schemas.openxmlformats.org/drawingml/2006/main"/>
        </p:blipFill>
        <p:spPr>
          <a:xfrm xmlns:a="http://schemas.openxmlformats.org/drawingml/2006/main">
            <a:off x="4381500" y="1707356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9" name="cycle-frame-label-1">
            <a:extLst xmlns:a="http://schemas.openxmlformats.org/drawingml/2006/main">
              <a:ext uri="{FF2B5EF4-FFF2-40B4-BE49-F238E27FC236}">
                <a16:creationId xmlns:a16="http://schemas.microsoft.com/office/drawing/2014/main" id="{50EC773A-6931-4831-9E3E-028EC0EC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Перенос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fce9964a94f40"/>
          <a:stretch xmlns:a="http://schemas.openxmlformats.org/drawingml/2006/main"/>
        </p:blipFill>
        <p:spPr>
          <a:xfrm xmlns:a="http://schemas.openxmlformats.org/drawingml/2006/main">
            <a:off x="7981950" y="1707356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1" name="cycle-frame-label-2">
            <a:extLst xmlns:a="http://schemas.openxmlformats.org/drawingml/2006/main">
              <a:ext uri="{FF2B5EF4-FFF2-40B4-BE49-F238E27FC236}">
                <a16:creationId xmlns:a16="http://schemas.microsoft.com/office/drawing/2014/main" id="{B7BA77CA-0BEE-43EF-A918-E4A5CEDE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Отпускание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5FFB5-E3AD-40C4-BA4E-179D0DB7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ycle-check-num-0">
            <a:extLst xmlns:a="http://schemas.openxmlformats.org/drawingml/2006/main">
              <a:ext uri="{FF2B5EF4-FFF2-40B4-BE49-F238E27FC236}">
                <a16:creationId xmlns:a16="http://schemas.microsoft.com/office/drawing/2014/main" id="{4C30AEF2-ABD2-4754-8829-7DD30F86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cycle-check-0">
            <a:extLst xmlns:a="http://schemas.openxmlformats.org/drawingml/2006/main">
              <a:ext uri="{FF2B5EF4-FFF2-40B4-BE49-F238E27FC236}">
                <a16:creationId xmlns:a16="http://schemas.microsoft.com/office/drawing/2014/main" id="{95FDA752-20B5-40EB-B14E-8715CEE5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двусторонний контакт пальцев</a:t>
            </a:r>
          </a:p>
        </p:txBody>
      </p:sp>
      <p:sp>
        <p:nvSpPr>
          <p:cNvPr id="15" name="cycle-check-num-1">
            <a:extLst xmlns:a="http://schemas.openxmlformats.org/drawingml/2006/main">
              <a:ext uri="{FF2B5EF4-FFF2-40B4-BE49-F238E27FC236}">
                <a16:creationId xmlns:a16="http://schemas.microsoft.com/office/drawing/2014/main" id="{0A606192-7B97-48ED-8405-D21A00EB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434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cycle-check-1">
            <a:extLst xmlns:a="http://schemas.openxmlformats.org/drawingml/2006/main">
              <a:ext uri="{FF2B5EF4-FFF2-40B4-BE49-F238E27FC236}">
                <a16:creationId xmlns:a16="http://schemas.microsoft.com/office/drawing/2014/main" id="{563F8782-F8E6-4F7E-BA23-B0275839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24375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сигнал удержания на подъеме</a:t>
            </a:r>
          </a:p>
        </p:txBody>
      </p:sp>
      <p:sp>
        <p:nvSpPr>
          <p:cNvPr id="17" name="cycle-check-num-2">
            <a:extLst xmlns:a="http://schemas.openxmlformats.org/drawingml/2006/main">
              <a:ext uri="{FF2B5EF4-FFF2-40B4-BE49-F238E27FC236}">
                <a16:creationId xmlns:a16="http://schemas.microsoft.com/office/drawing/2014/main" id="{0CAB80E1-5203-49FC-87FB-6232857A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434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cycle-check-2">
            <a:extLst xmlns:a="http://schemas.openxmlformats.org/drawingml/2006/main">
              <a:ext uri="{FF2B5EF4-FFF2-40B4-BE49-F238E27FC236}">
                <a16:creationId xmlns:a16="http://schemas.microsoft.com/office/drawing/2014/main" id="{B817C720-9D84-445B-8AC5-D882CB0B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24375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свежий кадр после отхода</a:t>
            </a:r>
          </a:p>
        </p:txBody>
      </p:sp>
      <p:sp>
        <p:nvSpPr>
          <p:cNvPr id="19" name="cycle-disclaimer">
            <a:extLst xmlns:a="http://schemas.openxmlformats.org/drawingml/2006/main">
              <a:ext uri="{FF2B5EF4-FFF2-40B4-BE49-F238E27FC236}">
                <a16:creationId xmlns:a16="http://schemas.microsoft.com/office/drawing/2014/main" id="{23CE6665-D95E-4774-BD25-9338C555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Это кадры одной программной записи; реального захвата физической рукой не было.</a:t>
            </a:r>
          </a:p>
        </p:txBody>
      </p:sp>
    </p:spTree>
    <p:extLst>
      <p:ext uri="{BB962C8B-B14F-4D97-AF65-F5344CB8AC3E}">
        <p14:creationId xmlns:p14="http://schemas.microsoft.com/office/powerpoint/2010/main" val="17825757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83D8F-56E2-49B3-A3DC-2B047193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30AAF1DD-DB85-4FAE-B66F-1B64A44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78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Отдельная запись показывает один завершенный виртуальный цикл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114D5-8150-4821-9DA0-0423594A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11-footer">
            <a:extLst xmlns:a="http://schemas.openxmlformats.org/drawingml/2006/main">
              <a:ext uri="{FF2B5EF4-FFF2-40B4-BE49-F238E27FC236}">
                <a16:creationId xmlns:a16="http://schemas.microsoft.com/office/drawing/2014/main" id="{D54C9321-0276-4199-BCB3-FEF4BFBC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11-page">
            <a:extLst xmlns:a="http://schemas.openxmlformats.org/drawingml/2006/main">
              <a:ext uri="{FF2B5EF4-FFF2-40B4-BE49-F238E27FC236}">
                <a16:creationId xmlns:a16="http://schemas.microsoft.com/office/drawing/2014/main" id="{B666DFE2-0E61-4646-A2FC-56331AAC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6af48b59148f1"/>
          <a:stretch xmlns:a="http://schemas.openxmlformats.org/drawingml/2006/main"/>
        </p:blipFill>
        <p:spPr>
          <a:xfrm xmlns:a="http://schemas.openxmlformats.org/drawingml/2006/main">
            <a:off x="687388" y="1581150"/>
            <a:ext cx="6807200" cy="3829050"/>
          </a:xfrm>
          <a:prstGeom xmlns:a="http://schemas.openxmlformats.org/drawingml/2006/main" prst="rect">
            <a:avLst/>
          </a:prstGeom>
        </p:spPr>
      </p:pic>
      <p:sp>
        <p:nvSpPr>
          <p:cNvPr id="7" name="video-kicker">
            <a:extLst xmlns:a="http://schemas.openxmlformats.org/drawingml/2006/main">
              <a:ext uri="{FF2B5EF4-FFF2-40B4-BE49-F238E27FC236}">
                <a16:creationId xmlns:a16="http://schemas.microsoft.com/office/drawing/2014/main" id="{3CC42C75-7A18-4924-9205-BB1078D1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657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ЗАПИСАННЫЙ ПРОГОН</a:t>
            </a:r>
          </a:p>
        </p:txBody>
      </p:sp>
      <p:sp>
        <p:nvSpPr>
          <p:cNvPr id="8" name="video-run-id">
            <a:extLst xmlns:a="http://schemas.openxmlformats.org/drawingml/2006/main">
              <a:ext uri="{FF2B5EF4-FFF2-40B4-BE49-F238E27FC236}">
                <a16:creationId xmlns:a16="http://schemas.microsoft.com/office/drawing/2014/main" id="{D79DA795-C46D-4900-892A-92447D68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669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single_red_center-2d771e58cc</a:t>
            </a:r>
          </a:p>
        </p:txBody>
      </p:sp>
      <p:sp>
        <p:nvSpPr>
          <p:cNvPr id="9" name="video-result">
            <a:extLst xmlns:a="http://schemas.openxmlformats.org/drawingml/2006/main">
              <a:ext uri="{FF2B5EF4-FFF2-40B4-BE49-F238E27FC236}">
                <a16:creationId xmlns:a16="http://schemas.microsoft.com/office/drawing/2014/main" id="{FBD387ED-77B1-4ECF-89E3-DADDD61B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667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1717"/>
                </a:solidFill>
                <a:latin typeface="Arial"/>
                <a:ea typeface="Arial"/>
                <a:cs typeface="Arial"/>
              </a:rPr>
              <a:t>1 объект · RED · FSM DONE</a:t>
            </a:r>
          </a:p>
        </p:txBody>
      </p:sp>
      <p:sp>
        <p:nvSpPr>
          <p:cNvPr id="10" name="video-duration">
            <a:extLst xmlns:a="http://schemas.openxmlformats.org/drawingml/2006/main">
              <a:ext uri="{FF2B5EF4-FFF2-40B4-BE49-F238E27FC236}">
                <a16:creationId xmlns:a16="http://schemas.microsoft.com/office/drawing/2014/main" id="{2D79D697-6381-4B53-A448-0A3A553F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004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33,04 с видео</a:t>
            </a:r>
          </a:p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около 5× к модельному времени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C9B91-62B0-4AB6-8B0E-A434AE14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0576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deo-relative-link">
            <a:extLst xmlns:a="http://schemas.openxmlformats.org/drawingml/2006/main">
              <a:ext uri="{FF2B5EF4-FFF2-40B4-BE49-F238E27FC236}">
                <a16:creationId xmlns:a16="http://schemas.microsoft.com/office/drawing/2014/main" id="{BB5A4D18-8562-47F9-9629-25B59FCA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2767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u="sng">
                <a:solidFill>
                  <a:srgbClr val="171717"/>
                </a:solidFill>
                <a:latin typeface="Arial"/>
                <a:ea typeface="Arial"/>
                <a:cs typeface="Arial"/>
                <a:hlinkClick xmlns:r="http://schemas.openxmlformats.org/officeDocument/2006/relationships" r:id="Rb4d63bab3210414c"/>
              </a:rPr>
              <a:t>Открыть MP4: media/симуляция.mp4</a:t>
            </a:r>
          </a:p>
        </p:txBody>
      </p:sp>
      <p:sp>
        <p:nvSpPr>
          <p:cNvPr id="13" name="video-portability">
            <a:extLst xmlns:a="http://schemas.openxmlformats.org/drawingml/2006/main">
              <a:ext uri="{FF2B5EF4-FFF2-40B4-BE49-F238E27FC236}">
                <a16:creationId xmlns:a16="http://schemas.microsoft.com/office/drawing/2014/main" id="{BE700564-5743-480C-9953-6386C47F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86727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585C"/>
                </a:solidFill>
                <a:latin typeface="Arial"/>
                <a:ea typeface="Arial"/>
                <a:cs typeface="Arial"/>
              </a:rPr>
              <a:t>MP4 хранится рядом с презентацией. Если ссылки отключены — откройте файл из папки media.</a:t>
            </a:r>
          </a:p>
        </p:txBody>
      </p:sp>
      <p:sp>
        <p:nvSpPr>
          <p:cNvPr id="14" name="video-scope">
            <a:extLst xmlns:a="http://schemas.openxmlformats.org/drawingml/2006/main">
              <a:ext uri="{FF2B5EF4-FFF2-40B4-BE49-F238E27FC236}">
                <a16:creationId xmlns:a16="http://schemas.microsoft.com/office/drawing/2014/main" id="{FB0A4FAC-AE3D-42F5-B0FB-42D127D9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Эта запись демонстрирует один успешный run и не заменяет результаты кампании M9.</a:t>
            </a:r>
          </a:p>
        </p:txBody>
      </p:sp>
    </p:spTree>
    <p:extLst>
      <p:ext uri="{BB962C8B-B14F-4D97-AF65-F5344CB8AC3E}">
        <p14:creationId xmlns:p14="http://schemas.microsoft.com/office/powerpoint/2010/main" val="4098941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E7635-9C99-415E-961B-7BF51F04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02F8D0B2-0288-452A-88A0-B5BC1377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14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Кампания M9 включала 98 запусков и заранее заданные критерии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6D5D4-1AED-4ADC-87E4-B509E020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12-footer">
            <a:extLst xmlns:a="http://schemas.openxmlformats.org/drawingml/2006/main">
              <a:ext uri="{FF2B5EF4-FFF2-40B4-BE49-F238E27FC236}">
                <a16:creationId xmlns:a16="http://schemas.microsoft.com/office/drawing/2014/main" id="{3FECCC75-C029-4434-BDBD-4334E37D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12-page">
            <a:extLst xmlns:a="http://schemas.openxmlformats.org/drawingml/2006/main">
              <a:ext uri="{FF2B5EF4-FFF2-40B4-BE49-F238E27FC236}">
                <a16:creationId xmlns:a16="http://schemas.microsoft.com/office/drawing/2014/main" id="{17EAD10D-16FD-40F4-BC38-6949FAED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test-metric-0">
            <a:extLst xmlns:a="http://schemas.openxmlformats.org/drawingml/2006/main">
              <a:ext uri="{FF2B5EF4-FFF2-40B4-BE49-F238E27FC236}">
                <a16:creationId xmlns:a16="http://schemas.microsoft.com/office/drawing/2014/main" id="{ADFDDBAE-EB98-4FD6-9A1B-932F176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98 / 98</a:t>
            </a:r>
          </a:p>
        </p:txBody>
      </p:sp>
      <p:sp>
        <p:nvSpPr>
          <p:cNvPr id="7" name="test-label-0">
            <a:extLst xmlns:a="http://schemas.openxmlformats.org/drawingml/2006/main">
              <a:ext uri="{FF2B5EF4-FFF2-40B4-BE49-F238E27FC236}">
                <a16:creationId xmlns:a16="http://schemas.microsoft.com/office/drawing/2014/main" id="{D5609E64-A4E4-4E9E-92CE-3801501C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5585C"/>
                </a:solidFill>
                <a:latin typeface="Arial"/>
                <a:ea typeface="Arial"/>
                <a:cs typeface="Arial"/>
              </a:rPr>
              <a:t>зарегистрированных запусков</a:t>
            </a:r>
          </a:p>
          <a:p xmlns:a="http://schemas.openxmlformats.org/drawingml/2006/main">
            <a:pPr algn="l">
              <a:defRPr sz="16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5585C"/>
                </a:solidFill>
                <a:latin typeface="Arial"/>
                <a:ea typeface="Arial"/>
                <a:cs typeface="Arial"/>
              </a:rPr>
              <a:t>проанализированы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6F267-3C47-4FA3-AE6B-F8BE62DD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52625"/>
            <a:ext cx="95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st-metric-1">
            <a:extLst xmlns:a="http://schemas.openxmlformats.org/drawingml/2006/main">
              <a:ext uri="{FF2B5EF4-FFF2-40B4-BE49-F238E27FC236}">
                <a16:creationId xmlns:a16="http://schemas.microsoft.com/office/drawing/2014/main" id="{9745661B-92F0-4B03-9D73-F1D3752F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431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0" name="test-label-1">
            <a:extLst xmlns:a="http://schemas.openxmlformats.org/drawingml/2006/main">
              <a:ext uri="{FF2B5EF4-FFF2-40B4-BE49-F238E27FC236}">
                <a16:creationId xmlns:a16="http://schemas.microsoft.com/office/drawing/2014/main" id="{2F68F1B7-6DF3-4B32-8FEA-9BB95051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479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5585C"/>
                </a:solidFill>
                <a:latin typeface="Arial"/>
                <a:ea typeface="Arial"/>
                <a:cs typeface="Arial"/>
              </a:rPr>
              <a:t>независимых партий</a:t>
            </a:r>
          </a:p>
          <a:p xmlns:a="http://schemas.openxmlformats.org/drawingml/2006/main">
            <a:pPr algn="l">
              <a:defRPr sz="16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5585C"/>
                </a:solidFill>
                <a:latin typeface="Arial"/>
                <a:ea typeface="Arial"/>
                <a:cs typeface="Arial"/>
              </a:rPr>
              <a:t>в основной серии V03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3A353-7D9F-4D54-BF3A-498665D8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952625"/>
            <a:ext cx="95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st-metric-2">
            <a:extLst xmlns:a="http://schemas.openxmlformats.org/drawingml/2006/main">
              <a:ext uri="{FF2B5EF4-FFF2-40B4-BE49-F238E27FC236}">
                <a16:creationId xmlns:a16="http://schemas.microsoft.com/office/drawing/2014/main" id="{38C9BC18-3A9B-4EA4-A80C-59738343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27 / 30</a:t>
            </a:r>
          </a:p>
        </p:txBody>
      </p:sp>
      <p:sp>
        <p:nvSpPr>
          <p:cNvPr id="13" name="test-label-2">
            <a:extLst xmlns:a="http://schemas.openxmlformats.org/drawingml/2006/main">
              <a:ext uri="{FF2B5EF4-FFF2-40B4-BE49-F238E27FC236}">
                <a16:creationId xmlns:a16="http://schemas.microsoft.com/office/drawing/2014/main" id="{FA7CA929-6428-4E46-9CA0-FB4747CD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479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5585C"/>
                </a:solidFill>
                <a:latin typeface="Arial"/>
                <a:ea typeface="Arial"/>
                <a:cs typeface="Arial"/>
              </a:rPr>
              <a:t>порог приемки V03</a:t>
            </a:r>
          </a:p>
          <a:p xmlns:a="http://schemas.openxmlformats.org/drawingml/2006/main">
            <a:pPr algn="l">
              <a:defRPr sz="16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5585C"/>
                </a:solidFill>
                <a:latin typeface="Arial"/>
                <a:ea typeface="Arial"/>
                <a:cs typeface="Arial"/>
              </a:rPr>
              <a:t>не менее 90% партий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54976-72AB-4747-8631-26963F9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st-scenarios">
            <a:extLst xmlns:a="http://schemas.openxmlformats.org/drawingml/2006/main">
              <a:ext uri="{FF2B5EF4-FFF2-40B4-BE49-F238E27FC236}">
                <a16:creationId xmlns:a16="http://schemas.microsoft.com/office/drawing/2014/main" id="{F44F3C2E-D2F9-44CE-A3F3-EF753E76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Сценарии: фиксированные цвета · смешанные партии · крайние позиции · шум RGB · освещение · отказ камеры и захвата · заблокированный путь · повторяемость</a:t>
            </a:r>
          </a:p>
        </p:txBody>
      </p:sp>
      <p:sp>
        <p:nvSpPr>
          <p:cNvPr id="16" name="test-outcomes-note">
            <a:extLst xmlns:a="http://schemas.openxmlformats.org/drawingml/2006/main">
              <a:ext uri="{FF2B5EF4-FFF2-40B4-BE49-F238E27FC236}">
                <a16:creationId xmlns:a16="http://schemas.microsoft.com/office/drawing/2014/main" id="{AAE08B84-6D8D-4763-8854-BE719143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585C"/>
                </a:solidFill>
                <a:latin typeface="Arial"/>
                <a:ea typeface="Arial"/>
                <a:cs typeface="Arial"/>
              </a:rPr>
              <a:t>84/98 запусков соответствуют ожидаемому исходу, включая корректные безопасные отказы; это не доля успешной сортировки.</a:t>
            </a:r>
          </a:p>
        </p:txBody>
      </p:sp>
    </p:spTree>
    <p:extLst>
      <p:ext uri="{BB962C8B-B14F-4D97-AF65-F5344CB8AC3E}">
        <p14:creationId xmlns:p14="http://schemas.microsoft.com/office/powerpoint/2010/main" val="9442118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943B6-3F98-4CD6-9957-235E931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5F5BA5C3-F02F-4648-99FD-41C5EAF6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V03: завершено 21 из 30 партий при цели 27</a:t>
            </a:r>
          </a:p>
        </p:txBody>
      </p:sp>
      <p:sp>
        <p:nvSpPr>
          <p:cNvPr id="3" name="slide-13-subtitle">
            <a:extLst xmlns:a="http://schemas.openxmlformats.org/drawingml/2006/main">
              <a:ext uri="{FF2B5EF4-FFF2-40B4-BE49-F238E27FC236}">
                <a16:creationId xmlns:a16="http://schemas.microsoft.com/office/drawing/2014/main" id="{3D90D8C2-5D3B-465B-A264-A560346F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5585C"/>
                </a:solidFill>
                <a:latin typeface="Arial"/>
                <a:ea typeface="Arial"/>
                <a:cs typeface="Arial"/>
              </a:rPr>
              <a:t>Полная партия — все три объекта подтверждены evaluator в верных слотах, FSM заканчивается DONE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3D27D-C3B4-40A6-A814-55714CBD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13-footer">
            <a:extLst xmlns:a="http://schemas.openxmlformats.org/drawingml/2006/main">
              <a:ext uri="{FF2B5EF4-FFF2-40B4-BE49-F238E27FC236}">
                <a16:creationId xmlns:a16="http://schemas.microsoft.com/office/drawing/2014/main" id="{80A8DA0D-30C6-41F7-B5FC-5684053D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6" name="slide-13-page">
            <a:extLst xmlns:a="http://schemas.openxmlformats.org/drawingml/2006/main">
              <a:ext uri="{FF2B5EF4-FFF2-40B4-BE49-F238E27FC236}">
                <a16:creationId xmlns:a16="http://schemas.microsoft.com/office/drawing/2014/main" id="{85C8D191-2353-48A6-A74E-35C0E678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sult-axis-0">
            <a:extLst xmlns:a="http://schemas.openxmlformats.org/drawingml/2006/main">
              <a:ext uri="{FF2B5EF4-FFF2-40B4-BE49-F238E27FC236}">
                <a16:creationId xmlns:a16="http://schemas.microsoft.com/office/drawing/2014/main" id="{C52B2177-5DD5-462E-91AC-735A1181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59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5585C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8" name="result-axis-50">
            <a:extLst xmlns:a="http://schemas.openxmlformats.org/drawingml/2006/main">
              <a:ext uri="{FF2B5EF4-FFF2-40B4-BE49-F238E27FC236}">
                <a16:creationId xmlns:a16="http://schemas.microsoft.com/office/drawing/2014/main" id="{94A9EDD1-ADCE-4531-ADF5-7D6C149A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338" y="39814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5585C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9" name="result-axis-100">
            <a:extLst xmlns:a="http://schemas.openxmlformats.org/drawingml/2006/main">
              <a:ext uri="{FF2B5EF4-FFF2-40B4-BE49-F238E27FC236}">
                <a16:creationId xmlns:a16="http://schemas.microsoft.com/office/drawing/2014/main" id="{33E3092E-0AF5-4193-8F74-4EF8438F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81450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5585C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result-track">
            <a:extLst xmlns:a="http://schemas.openxmlformats.org/drawingml/2006/main">
              <a:ext uri="{FF2B5EF4-FFF2-40B4-BE49-F238E27FC236}">
                <a16:creationId xmlns:a16="http://schemas.microsoft.com/office/drawing/2014/main" id="{A5207C9E-085D-4689-92DC-8AB9D8B2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957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1" name="result-actual">
            <a:extLst xmlns:a="http://schemas.openxmlformats.org/drawingml/2006/main">
              <a:ext uri="{FF2B5EF4-FFF2-40B4-BE49-F238E27FC236}">
                <a16:creationId xmlns:a16="http://schemas.microsoft.com/office/drawing/2014/main" id="{E7FAE741-B043-4754-84BF-F2DD53D8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670083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A9A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2" name="result-target-marker">
            <a:extLst xmlns:a="http://schemas.openxmlformats.org/drawingml/2006/main">
              <a:ext uri="{FF2B5EF4-FFF2-40B4-BE49-F238E27FC236}">
                <a16:creationId xmlns:a16="http://schemas.microsoft.com/office/drawing/2014/main" id="{463DC3BE-6564-4B4E-8DB4-0AF1A9CB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280035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ult-actual-label">
            <a:extLst xmlns:a="http://schemas.openxmlformats.org/drawingml/2006/main">
              <a:ext uri="{FF2B5EF4-FFF2-40B4-BE49-F238E27FC236}">
                <a16:creationId xmlns:a16="http://schemas.microsoft.com/office/drawing/2014/main" id="{EB87CFC1-23F2-4885-B829-3987ABD7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813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21 / 30 = 70,0%</a:t>
            </a:r>
          </a:p>
        </p:txBody>
      </p:sp>
      <p:sp>
        <p:nvSpPr>
          <p:cNvPr id="14" name="result-target-label">
            <a:extLst xmlns:a="http://schemas.openxmlformats.org/drawingml/2006/main">
              <a:ext uri="{FF2B5EF4-FFF2-40B4-BE49-F238E27FC236}">
                <a16:creationId xmlns:a16="http://schemas.microsoft.com/office/drawing/2014/main" id="{9F514BF7-406C-4530-9B6F-4B62011C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5431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цель 90%</a:t>
            </a:r>
          </a:p>
        </p:txBody>
      </p:sp>
      <p:sp>
        <p:nvSpPr>
          <p:cNvPr id="15" name="result-wilson-line">
            <a:extLst xmlns:a="http://schemas.openxmlformats.org/drawingml/2006/main">
              <a:ext uri="{FF2B5EF4-FFF2-40B4-BE49-F238E27FC236}">
                <a16:creationId xmlns:a16="http://schemas.microsoft.com/office/drawing/2014/main" id="{326FE85C-7C4B-45E5-A914-A969E9AD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963" y="3800475"/>
            <a:ext cx="298665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sult-wilson-low">
            <a:extLst xmlns:a="http://schemas.openxmlformats.org/drawingml/2006/main">
              <a:ext uri="{FF2B5EF4-FFF2-40B4-BE49-F238E27FC236}">
                <a16:creationId xmlns:a16="http://schemas.microsoft.com/office/drawing/2014/main" id="{6DC3E638-00D4-43B2-A51F-14B5A79D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913" y="3733800"/>
            <a:ext cx="38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sult-wilson-high">
            <a:extLst xmlns:a="http://schemas.openxmlformats.org/drawingml/2006/main">
              <a:ext uri="{FF2B5EF4-FFF2-40B4-BE49-F238E27FC236}">
                <a16:creationId xmlns:a16="http://schemas.microsoft.com/office/drawing/2014/main" id="{99878420-2AB3-4C4B-9D80-04784704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572" y="3733800"/>
            <a:ext cx="38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ult-interval">
            <a:extLst xmlns:a="http://schemas.openxmlformats.org/drawingml/2006/main">
              <a:ext uri="{FF2B5EF4-FFF2-40B4-BE49-F238E27FC236}">
                <a16:creationId xmlns:a16="http://schemas.microsoft.com/office/drawing/2014/main" id="{5A4F942A-EF6E-4626-AD08-D650AC22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0075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95% интервал Уилсона: 52,1–83,3%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5C369-48B3-4509-9360-E77D26E3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sult-object-success">
            <a:extLst xmlns:a="http://schemas.openxmlformats.org/drawingml/2006/main">
              <a:ext uri="{FF2B5EF4-FFF2-40B4-BE49-F238E27FC236}">
                <a16:creationId xmlns:a16="http://schemas.microsoft.com/office/drawing/2014/main" id="{2B4776F3-A277-4835-BA0E-29C14D8E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9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73 / 90 объектов размещены верно</a:t>
            </a:r>
          </a:p>
        </p:txBody>
      </p:sp>
      <p:sp>
        <p:nvSpPr>
          <p:cNvPr id="21" name="result-safety-metrics">
            <a:extLst xmlns:a="http://schemas.openxmlformats.org/drawingml/2006/main">
              <a:ext uri="{FF2B5EF4-FFF2-40B4-BE49-F238E27FC236}">
                <a16:creationId xmlns:a16="http://schemas.microsoft.com/office/drawing/2014/main" id="{7322523A-A284-4031-AF1A-E806AD40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33975"/>
            <a:ext cx="640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0 неверных зон · 0 запрещенных контактов · 0 нарушений суставных/силовых лимитов в V03</a:t>
            </a:r>
          </a:p>
        </p:txBody>
      </p:sp>
    </p:spTree>
    <p:extLst>
      <p:ext uri="{BB962C8B-B14F-4D97-AF65-F5344CB8AC3E}">
        <p14:creationId xmlns:p14="http://schemas.microsoft.com/office/powerpoint/2010/main" val="11615223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F2C2F-94DF-4EDA-86BA-81142E19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5D1972E5-9A11-47E4-B808-2ECEF2B3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454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Негативные прогоны показали ограничения захвата и проверки укладки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DA608-EEE7-43D0-84ED-ED5860BC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14-footer">
            <a:extLst xmlns:a="http://schemas.openxmlformats.org/drawingml/2006/main">
              <a:ext uri="{FF2B5EF4-FFF2-40B4-BE49-F238E27FC236}">
                <a16:creationId xmlns:a16="http://schemas.microsoft.com/office/drawing/2014/main" id="{FAFD222F-AE32-4556-B028-E598863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14-page">
            <a:extLst xmlns:a="http://schemas.openxmlformats.org/drawingml/2006/main">
              <a:ext uri="{FF2B5EF4-FFF2-40B4-BE49-F238E27FC236}">
                <a16:creationId xmlns:a16="http://schemas.microsoft.com/office/drawing/2014/main" id="{7373CF15-6574-4AB4-87CC-A1791E89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negative-0-heading">
            <a:extLst xmlns:a="http://schemas.openxmlformats.org/drawingml/2006/main">
              <a:ext uri="{FF2B5EF4-FFF2-40B4-BE49-F238E27FC236}">
                <a16:creationId xmlns:a16="http://schemas.microsoft.com/office/drawing/2014/main" id="{98990C71-A0A4-4826-BB8C-77E4E7C4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V03 · ПЛАНИРОВАНИЕ</a:t>
            </a:r>
          </a:p>
        </p:txBody>
      </p:sp>
      <p:sp>
        <p:nvSpPr>
          <p:cNvPr id="7" name="negative-0-value">
            <a:extLst xmlns:a="http://schemas.openxmlformats.org/drawingml/2006/main">
              <a:ext uri="{FF2B5EF4-FFF2-40B4-BE49-F238E27FC236}">
                <a16:creationId xmlns:a16="http://schemas.microsoft.com/office/drawing/2014/main" id="{4525A58D-D1FC-435C-ACFE-36F2E338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17 / 90</a:t>
            </a:r>
          </a:p>
        </p:txBody>
      </p:sp>
      <p:sp>
        <p:nvSpPr>
          <p:cNvPr id="8" name="negative-0-detail">
            <a:extLst xmlns:a="http://schemas.openxmlformats.org/drawingml/2006/main">
              <a:ext uri="{FF2B5EF4-FFF2-40B4-BE49-F238E27FC236}">
                <a16:creationId xmlns:a16="http://schemas.microsoft.com/office/drawing/2014/main" id="{DAE42489-6463-4EF7-BBEB-0D795B22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объектов не взяты</a:t>
            </a:r>
          </a:p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планировщик отказал: COLLISION_GRASP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F6BD6-97B7-4CC3-8F44-95D51A4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egative-0-takeaway">
            <a:extLst xmlns:a="http://schemas.openxmlformats.org/drawingml/2006/main">
              <a:ext uri="{FF2B5EF4-FFF2-40B4-BE49-F238E27FC236}">
                <a16:creationId xmlns:a16="http://schemas.microsoft.com/office/drawing/2014/main" id="{24D2348B-F5F7-493E-8150-98FFF0B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Без движения по отклоненной цели; поэтому неполные партии.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73809-38DF-4DB1-857D-E14C842F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43075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egative-1-heading">
            <a:extLst xmlns:a="http://schemas.openxmlformats.org/drawingml/2006/main">
              <a:ext uri="{FF2B5EF4-FFF2-40B4-BE49-F238E27FC236}">
                <a16:creationId xmlns:a16="http://schemas.microsoft.com/office/drawing/2014/main" id="{962C8C06-D045-4E6A-9B89-3411E4CA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335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V02 · КОНТАКТ</a:t>
            </a:r>
          </a:p>
        </p:txBody>
      </p:sp>
      <p:sp>
        <p:nvSpPr>
          <p:cNvPr id="13" name="negative-1-value">
            <a:extLst xmlns:a="http://schemas.openxmlformats.org/drawingml/2006/main">
              <a:ext uri="{FF2B5EF4-FFF2-40B4-BE49-F238E27FC236}">
                <a16:creationId xmlns:a16="http://schemas.microsoft.com/office/drawing/2014/main" id="{10F8A54F-58E3-4F7A-9E4C-3B7AB46A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09800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  <p:sp>
        <p:nvSpPr>
          <p:cNvPr id="14" name="negative-1-detail">
            <a:extLst xmlns:a="http://schemas.openxmlformats.org/drawingml/2006/main">
              <a:ext uri="{FF2B5EF4-FFF2-40B4-BE49-F238E27FC236}">
                <a16:creationId xmlns:a16="http://schemas.microsoft.com/office/drawing/2014/main" id="{45419CF1-D0B1-41E0-98F8-B37F6032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099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подтвержденных укладок</a:t>
            </a:r>
          </a:p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1 запрещенный контакт при размещении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B7DA8-EC2C-4290-A588-76B3E51C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1910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egative-1-takeaway">
            <a:extLst xmlns:a="http://schemas.openxmlformats.org/drawingml/2006/main">
              <a:ext uri="{FF2B5EF4-FFF2-40B4-BE49-F238E27FC236}">
                <a16:creationId xmlns:a16="http://schemas.microsoft.com/office/drawing/2014/main" id="{3D612182-ACAC-4486-8ABD-8F08111A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0055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FSM завершился SAFE_STOP / PUBLIC_HOLD_SIGNAL_LOST.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EE081-F676-4DD1-88D1-1AB198CA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43075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egative-2-heading">
            <a:extLst xmlns:a="http://schemas.openxmlformats.org/drawingml/2006/main">
              <a:ext uri="{FF2B5EF4-FFF2-40B4-BE49-F238E27FC236}">
                <a16:creationId xmlns:a16="http://schemas.microsoft.com/office/drawing/2014/main" id="{9DDCE286-B6B2-4933-8410-DE17498D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V07 · ОСВЕЩЕНИЕ</a:t>
            </a:r>
          </a:p>
        </p:txBody>
      </p:sp>
      <p:sp>
        <p:nvSpPr>
          <p:cNvPr id="19" name="negative-2-value">
            <a:extLst xmlns:a="http://schemas.openxmlformats.org/drawingml/2006/main">
              <a:ext uri="{FF2B5EF4-FFF2-40B4-BE49-F238E27FC236}">
                <a16:creationId xmlns:a16="http://schemas.microsoft.com/office/drawing/2014/main" id="{4258C337-C94F-4641-837B-55C522BB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 прогона</a:t>
            </a:r>
          </a:p>
        </p:txBody>
      </p:sp>
      <p:sp>
        <p:nvSpPr>
          <p:cNvPr id="20" name="negative-2-detail">
            <a:extLst xmlns:a="http://schemas.openxmlformats.org/drawingml/2006/main">
              <a:ext uri="{FF2B5EF4-FFF2-40B4-BE49-F238E27FC236}">
                <a16:creationId xmlns:a16="http://schemas.microsoft.com/office/drawing/2014/main" id="{461B693C-EE88-41CD-BE37-6C23B910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 0,70 и 1,30 освещенности</a:t>
            </a:r>
          </a:p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проверка укладки: timeout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5C9C7-A39D-4AC7-8284-27527CC4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910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negative-2-takeaway">
            <a:extLst xmlns:a="http://schemas.openxmlformats.org/drawingml/2006/main">
              <a:ext uri="{FF2B5EF4-FFF2-40B4-BE49-F238E27FC236}">
                <a16:creationId xmlns:a16="http://schemas.microsoft.com/office/drawing/2014/main" id="{1FFEB9E0-62BD-42BF-AB94-588028BC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585C"/>
                </a:solidFill>
                <a:latin typeface="Arial"/>
                <a:ea typeface="Arial"/>
                <a:cs typeface="Arial"/>
              </a:rPr>
              <a:t>Evaluator видел правильную укладку; контроллер ее не подтвердил.</a:t>
            </a:r>
          </a:p>
        </p:txBody>
      </p:sp>
      <p:sp>
        <p:nvSpPr>
          <p:cNvPr id="23" name="negative-conclusion">
            <a:extLst xmlns:a="http://schemas.openxmlformats.org/drawingml/2006/main">
              <a:ext uri="{FF2B5EF4-FFF2-40B4-BE49-F238E27FC236}">
                <a16:creationId xmlns:a16="http://schemas.microsoft.com/office/drawing/2014/main" id="{6A123E29-709C-4304-A27F-67CB27A8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Отказ планировщика помог избежать опасного движения, но снизил полноту сортировки.</a:t>
            </a:r>
          </a:p>
        </p:txBody>
      </p:sp>
    </p:spTree>
    <p:extLst>
      <p:ext uri="{BB962C8B-B14F-4D97-AF65-F5344CB8AC3E}">
        <p14:creationId xmlns:p14="http://schemas.microsoft.com/office/powerpoint/2010/main" val="11882218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AF3B6-1519-4370-98AF-F8F50F39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353B91C2-69E0-4A13-B57F-09758D84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27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Итог: виртуальная сортировка реализована, критерий полноты не достигнут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08050-080A-44E7-8C0F-17885F57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15-footer">
            <a:extLst xmlns:a="http://schemas.openxmlformats.org/drawingml/2006/main">
              <a:ext uri="{FF2B5EF4-FFF2-40B4-BE49-F238E27FC236}">
                <a16:creationId xmlns:a16="http://schemas.microsoft.com/office/drawing/2014/main" id="{3E3C843E-C39E-4D51-95FF-D37B04F2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КУРСОВАЯ РАБОТА · ШАТУЕВ Р.С.</a:t>
            </a:r>
          </a:p>
        </p:txBody>
      </p:sp>
      <p:sp>
        <p:nvSpPr>
          <p:cNvPr id="5" name="slide-15-page">
            <a:extLst xmlns:a="http://schemas.openxmlformats.org/drawingml/2006/main">
              <a:ext uri="{FF2B5EF4-FFF2-40B4-BE49-F238E27FC236}">
                <a16:creationId xmlns:a16="http://schemas.microsoft.com/office/drawing/2014/main" id="{C64C3723-6271-4662-9418-3EBFDE8F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585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nclusion-0-head">
            <a:extLst xmlns:a="http://schemas.openxmlformats.org/drawingml/2006/main">
              <a:ext uri="{FF2B5EF4-FFF2-40B4-BE49-F238E27FC236}">
                <a16:creationId xmlns:a16="http://schemas.microsoft.com/office/drawing/2014/main" id="{BF0BE1FA-BB35-497B-946C-BAB318F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695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7" name="conclusion-0-body">
            <a:extLst xmlns:a="http://schemas.openxmlformats.org/drawingml/2006/main">
              <a:ext uri="{FF2B5EF4-FFF2-40B4-BE49-F238E27FC236}">
                <a16:creationId xmlns:a16="http://schemas.microsoft.com/office/drawing/2014/main" id="{C4FD4484-A59C-4565-9BB6-A8AD5BAC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SCARA R–R–P–R · две RGB-камеры · контактный захват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9D27F-027B-4CEF-8AC3-B9D9D510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clusion-1-head">
            <a:extLst xmlns:a="http://schemas.openxmlformats.org/drawingml/2006/main">
              <a:ext uri="{FF2B5EF4-FFF2-40B4-BE49-F238E27FC236}">
                <a16:creationId xmlns:a16="http://schemas.microsoft.com/office/drawing/2014/main" id="{AA04846E-9FB3-43FD-8039-E8F9A668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1695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АЛГОРИТМ</a:t>
            </a:r>
          </a:p>
        </p:txBody>
      </p:sp>
      <p:sp>
        <p:nvSpPr>
          <p:cNvPr id="10" name="conclusion-1-body">
            <a:extLst xmlns:a="http://schemas.openxmlformats.org/drawingml/2006/main">
              <a:ext uri="{FF2B5EF4-FFF2-40B4-BE49-F238E27FC236}">
                <a16:creationId xmlns:a16="http://schemas.microsoft.com/office/drawing/2014/main" id="{F172CC50-59CC-4213-ACEE-2B25F563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3367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аналитическая FK/IK · perception · collision-aware планирование · FSM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9FFF6-A6A8-4314-9C94-8D8735BB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clusion-2-head">
            <a:extLst xmlns:a="http://schemas.openxmlformats.org/drawingml/2006/main">
              <a:ext uri="{FF2B5EF4-FFF2-40B4-BE49-F238E27FC236}">
                <a16:creationId xmlns:a16="http://schemas.microsoft.com/office/drawing/2014/main" id="{8AB9DA11-94A1-46A5-A801-26032A18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695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9A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9A25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3" name="conclusion-2-body">
            <a:extLst xmlns:a="http://schemas.openxmlformats.org/drawingml/2006/main">
              <a:ext uri="{FF2B5EF4-FFF2-40B4-BE49-F238E27FC236}">
                <a16:creationId xmlns:a16="http://schemas.microsoft.com/office/drawing/2014/main" id="{38CECDD6-09C7-4C5D-95FD-CA850AD4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5760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98 виртуальных запусков; V14 подтвердил повторяемость одного 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8C643-D6AE-43E2-8A25-9CE3CF0B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clusion-outcome">
            <a:extLst xmlns:a="http://schemas.openxmlformats.org/drawingml/2006/main">
              <a:ext uri="{FF2B5EF4-FFF2-40B4-BE49-F238E27FC236}">
                <a16:creationId xmlns:a16="http://schemas.microsoft.com/office/drawing/2014/main" id="{A29954C7-B572-4589-B4FE-09465BF3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V03: 21/30 полных партий при цели 27/30. Следующая инженерная задача — повысить доступность безопасного захвата и надежность проверки укладки.</a:t>
            </a:r>
          </a:p>
        </p:txBody>
      </p:sp>
      <p:sp>
        <p:nvSpPr>
          <p:cNvPr id="16" name="conclusion-scope">
            <a:extLst xmlns:a="http://schemas.openxmlformats.org/drawingml/2006/main">
              <a:ext uri="{FF2B5EF4-FFF2-40B4-BE49-F238E27FC236}">
                <a16:creationId xmlns:a16="http://schemas.microsoft.com/office/drawing/2014/main" id="{32F64D40-B3A8-4BD2-BCDC-09267E95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5585C"/>
                </a:solidFill>
                <a:latin typeface="Arial"/>
                <a:ea typeface="Arial"/>
                <a:cs typeface="Arial"/>
              </a:rPr>
              <a:t>Выводы относятся к модели MuJoCo; физический прототип и натурные измерения отсутствуют.</a:t>
            </a:r>
          </a:p>
        </p:txBody>
      </p:sp>
    </p:spTree>
    <p:extLst>
      <p:ext uri="{BB962C8B-B14F-4D97-AF65-F5344CB8AC3E}">
        <p14:creationId xmlns:p14="http://schemas.microsoft.com/office/powerpoint/2010/main" val="1617859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2026-09-28T01:53:04.2450000Z</dcterms:created>
  <dcterms:modified xsi:type="dcterms:W3CDTF">2026-09-28T01:53:04.2450000Z</dcterms:modified>
</coreProperties>
</file>